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0" d="100"/>
          <a:sy n="70" d="100"/>
        </p:scale>
        <p:origin x="1622" y="9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shu Ranjan" userId="3c83c38d459e5530" providerId="LiveId" clId="{2EBBE880-8E69-4AAF-90CF-B3127A3BF95E}"/>
    <pc:docChg chg="modSld">
      <pc:chgData name="Priyanshu Ranjan" userId="3c83c38d459e5530" providerId="LiveId" clId="{2EBBE880-8E69-4AAF-90CF-B3127A3BF95E}" dt="2026-08-30T14:03:55.638" v="21" actId="20577"/>
      <pc:docMkLst>
        <pc:docMk/>
      </pc:docMkLst>
      <pc:sldChg chg="modSp mod">
        <pc:chgData name="Priyanshu Ranjan" userId="3c83c38d459e5530" providerId="LiveId" clId="{2EBBE880-8E69-4AAF-90CF-B3127A3BF95E}" dt="2026-08-30T14:03:55.638" v="21" actId="20577"/>
        <pc:sldMkLst>
          <pc:docMk/>
          <pc:sldMk cId="0" sldId="256"/>
        </pc:sldMkLst>
        <pc:spChg chg="mod">
          <ac:chgData name="Priyanshu Ranjan" userId="3c83c38d459e5530" providerId="LiveId" clId="{2EBBE880-8E69-4AAF-90CF-B3127A3BF95E}" dt="2026-08-30T14:03:55.638" v="21" actId="20577"/>
          <ac:spMkLst>
            <pc:docMk/>
            <pc:sldMk cId="0" sldId="256"/>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45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22.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rgbClr val="141A45"/>
          </a:solidFill>
          <a:ln/>
        </p:spPr>
      </p:sp>
      <p:sp>
        <p:nvSpPr>
          <p:cNvPr id="3" name="Shape 1"/>
          <p:cNvSpPr/>
          <p:nvPr/>
        </p:nvSpPr>
        <p:spPr>
          <a:xfrm>
            <a:off x="-1280160" y="5120640"/>
            <a:ext cx="3291840" cy="3291840"/>
          </a:xfrm>
          <a:prstGeom prst="ellipse">
            <a:avLst/>
          </a:prstGeom>
          <a:solidFill>
            <a:srgbClr val="141A45"/>
          </a:solidFill>
          <a:ln/>
        </p:spPr>
      </p:sp>
      <p:sp>
        <p:nvSpPr>
          <p:cNvPr id="4" name="Shape 2"/>
          <p:cNvSpPr/>
          <p:nvPr/>
        </p:nvSpPr>
        <p:spPr>
          <a:xfrm>
            <a:off x="640080" y="457200"/>
            <a:ext cx="658368" cy="658368"/>
          </a:xfrm>
          <a:prstGeom prst="roundRect">
            <a:avLst>
              <a:gd name="adj" fmla="val 11111"/>
            </a:avLst>
          </a:prstGeom>
          <a:solidFill>
            <a:srgbClr val="FFFFFF"/>
          </a:solidFill>
          <a:ln/>
          <a:effectLst>
            <a:outerShdw blurRad="76200" dist="25400" dir="5400000" algn="bl" rotWithShape="0">
              <a:srgbClr val="000000">
                <a:alpha val="25000"/>
              </a:srgbClr>
            </a:outerShdw>
          </a:effectLst>
        </p:spPr>
      </p:sp>
      <p:pic>
        <p:nvPicPr>
          <p:cNvPr id="5" name="Image 0" descr="/home/claude/pptx_work/icons/iilm_logo.png"/>
          <p:cNvPicPr>
            <a:picLocks noChangeAspect="1"/>
          </p:cNvPicPr>
          <p:nvPr/>
        </p:nvPicPr>
        <p:blipFill>
          <a:blip r:embed="rId3"/>
          <a:stretch>
            <a:fillRect/>
          </a:stretch>
        </p:blipFill>
        <p:spPr>
          <a:xfrm>
            <a:off x="713232" y="530352"/>
            <a:ext cx="512064" cy="512064"/>
          </a:xfrm>
          <a:prstGeom prst="rect">
            <a:avLst/>
          </a:prstGeom>
        </p:spPr>
      </p:pic>
      <p:sp>
        <p:nvSpPr>
          <p:cNvPr id="6" name="Text 3"/>
          <p:cNvSpPr/>
          <p:nvPr/>
        </p:nvSpPr>
        <p:spPr>
          <a:xfrm>
            <a:off x="1417320" y="457200"/>
            <a:ext cx="4572000" cy="658368"/>
          </a:xfrm>
          <a:prstGeom prst="rect">
            <a:avLst/>
          </a:prstGeom>
          <a:noFill/>
          <a:ln/>
        </p:spPr>
        <p:txBody>
          <a:bodyPr wrap="square"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IILM UNIVERSITY</a:t>
            </a:r>
            <a:endParaRPr lang="en-US" sz="1600" dirty="0"/>
          </a:p>
        </p:txBody>
      </p:sp>
      <p:sp>
        <p:nvSpPr>
          <p:cNvPr id="7" name="Text 4"/>
          <p:cNvSpPr/>
          <p:nvPr/>
        </p:nvSpPr>
        <p:spPr>
          <a:xfrm>
            <a:off x="640080" y="2331720"/>
            <a:ext cx="10881360" cy="457200"/>
          </a:xfrm>
          <a:prstGeom prst="rect">
            <a:avLst/>
          </a:prstGeom>
          <a:noFill/>
          <a:ln/>
        </p:spPr>
        <p:txBody>
          <a:bodyPr wrap="square"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INTERNSHIP PRESENTATION</a:t>
            </a:r>
            <a:endParaRPr lang="en-US" sz="1400" dirty="0"/>
          </a:p>
        </p:txBody>
      </p:sp>
      <p:sp>
        <p:nvSpPr>
          <p:cNvPr id="8" name="Text 5"/>
          <p:cNvSpPr/>
          <p:nvPr/>
        </p:nvSpPr>
        <p:spPr>
          <a:xfrm>
            <a:off x="0" y="2775204"/>
            <a:ext cx="10881360" cy="1005840"/>
          </a:xfrm>
          <a:prstGeom prst="rect">
            <a:avLst/>
          </a:prstGeom>
          <a:noFill/>
          <a:ln/>
        </p:spPr>
        <p:txBody>
          <a:bodyPr wrap="square" rtlCol="0" anchor="ctr"/>
          <a:lstStyle/>
          <a:p>
            <a:pPr lvl="1"/>
            <a:r>
              <a:rPr lang="en-US" sz="4800" b="1" dirty="0">
                <a:solidFill>
                  <a:schemeClr val="bg1"/>
                </a:solidFill>
              </a:rPr>
              <a:t>Data Analytics with AI Internship</a:t>
            </a:r>
          </a:p>
          <a:p>
            <a:pPr lvl="1"/>
            <a:endParaRPr lang="en-IN" sz="4400" b="1" dirty="0">
              <a:solidFill>
                <a:schemeClr val="bg1"/>
              </a:solidFill>
              <a:latin typeface="Georgia"/>
            </a:endParaRPr>
          </a:p>
        </p:txBody>
      </p:sp>
      <p:sp>
        <p:nvSpPr>
          <p:cNvPr id="9" name="Shape 6"/>
          <p:cNvSpPr/>
          <p:nvPr/>
        </p:nvSpPr>
        <p:spPr>
          <a:xfrm>
            <a:off x="658368" y="3794760"/>
            <a:ext cx="2011680" cy="0"/>
          </a:xfrm>
          <a:prstGeom prst="line">
            <a:avLst/>
          </a:prstGeom>
          <a:noFill/>
          <a:ln w="38100">
            <a:solidFill>
              <a:srgbClr val="4C7FFF"/>
            </a:solidFill>
            <a:prstDash val="solid"/>
          </a:ln>
        </p:spPr>
      </p:sp>
      <p:sp>
        <p:nvSpPr>
          <p:cNvPr id="10" name="Text 7"/>
          <p:cNvSpPr/>
          <p:nvPr/>
        </p:nvSpPr>
        <p:spPr>
          <a:xfrm>
            <a:off x="640080" y="4069080"/>
            <a:ext cx="73152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Presented by  </a:t>
            </a:r>
            <a:r>
              <a:rPr lang="en-US" sz="1600" b="1" dirty="0">
                <a:solidFill>
                  <a:srgbClr val="FFFFFF"/>
                </a:solidFill>
                <a:latin typeface="Calibri" pitchFamily="34" charset="0"/>
                <a:ea typeface="Calibri" pitchFamily="34" charset="-122"/>
                <a:cs typeface="Calibri" pitchFamily="34" charset="-120"/>
              </a:rPr>
              <a:t>Kaushlendra Kumar Dwivedi</a:t>
            </a:r>
            <a:endParaRPr lang="en-US" sz="1400" dirty="0"/>
          </a:p>
        </p:txBody>
      </p:sp>
      <p:sp>
        <p:nvSpPr>
          <p:cNvPr id="11" name="Text 8"/>
          <p:cNvSpPr/>
          <p:nvPr/>
        </p:nvSpPr>
        <p:spPr>
          <a:xfrm>
            <a:off x="640080" y="4434840"/>
            <a:ext cx="105156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B.Tech Computer Science &amp; Engineering  |  Semester: [7th]  |  Enrollment No.: 23411341</a:t>
            </a:r>
            <a:endParaRPr lang="en-US" sz="1300" dirty="0"/>
          </a:p>
        </p:txBody>
      </p:sp>
      <p:sp>
        <p:nvSpPr>
          <p:cNvPr id="12" name="Shape 9"/>
          <p:cNvSpPr/>
          <p:nvPr/>
        </p:nvSpPr>
        <p:spPr>
          <a:xfrm>
            <a:off x="640080" y="5623560"/>
            <a:ext cx="10908792" cy="777240"/>
          </a:xfrm>
          <a:prstGeom prst="rect">
            <a:avLst/>
          </a:prstGeom>
          <a:solidFill>
            <a:srgbClr val="141A45"/>
          </a:solidFill>
          <a:ln/>
        </p:spPr>
      </p:sp>
      <p:sp>
        <p:nvSpPr>
          <p:cNvPr id="13" name="Shape 10"/>
          <p:cNvSpPr/>
          <p:nvPr/>
        </p:nvSpPr>
        <p:spPr>
          <a:xfrm>
            <a:off x="868680" y="5760720"/>
            <a:ext cx="502920" cy="502920"/>
          </a:xfrm>
          <a:prstGeom prst="ellipse">
            <a:avLst/>
          </a:prstGeom>
          <a:solidFill>
            <a:srgbClr val="4C7FFF"/>
          </a:solidFill>
          <a:ln/>
        </p:spPr>
      </p:sp>
      <p:pic>
        <p:nvPicPr>
          <p:cNvPr id="14" name="Image 1" descr="/home/claude/pptx_work/icons/building.png"/>
          <p:cNvPicPr>
            <a:picLocks noChangeAspect="1"/>
          </p:cNvPicPr>
          <p:nvPr/>
        </p:nvPicPr>
        <p:blipFill>
          <a:blip r:embed="rId4"/>
          <a:stretch>
            <a:fillRect/>
          </a:stretch>
        </p:blipFill>
        <p:spPr>
          <a:xfrm>
            <a:off x="981837" y="5873877"/>
            <a:ext cx="276606" cy="276606"/>
          </a:xfrm>
          <a:prstGeom prst="rect">
            <a:avLst/>
          </a:prstGeom>
        </p:spPr>
      </p:pic>
      <p:sp>
        <p:nvSpPr>
          <p:cNvPr id="15" name="Text 11"/>
          <p:cNvSpPr/>
          <p:nvPr/>
        </p:nvSpPr>
        <p:spPr>
          <a:xfrm>
            <a:off x="1508760" y="5687568"/>
            <a:ext cx="3017520" cy="59436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Organization
</a:t>
            </a:r>
            <a:endParaRPr lang="en-US" sz="1400" b="1" dirty="0">
              <a:solidFill>
                <a:schemeClr val="bg1"/>
              </a:solidFill>
              <a:latin typeface="Calibri" pitchFamily="34" charset="0"/>
              <a:ea typeface="Calibri" pitchFamily="34" charset="-122"/>
              <a:cs typeface="Calibri" pitchFamily="34" charset="-120"/>
            </a:endParaRPr>
          </a:p>
          <a:p>
            <a:r>
              <a:rPr lang="en-US" sz="1400" b="1" dirty="0">
                <a:solidFill>
                  <a:schemeClr val="bg1"/>
                </a:solidFill>
              </a:rPr>
              <a:t>AICTE | IBM </a:t>
            </a:r>
            <a:r>
              <a:rPr lang="en-US" sz="1400" b="1" dirty="0" err="1">
                <a:solidFill>
                  <a:schemeClr val="bg1"/>
                </a:solidFill>
              </a:rPr>
              <a:t>SkillsBuild</a:t>
            </a:r>
            <a:r>
              <a:rPr lang="en-US" sz="1400" b="1" dirty="0">
                <a:solidFill>
                  <a:schemeClr val="bg1"/>
                </a:solidFill>
              </a:rPr>
              <a:t> Academic Internship · </a:t>
            </a:r>
            <a:r>
              <a:rPr lang="en-US" sz="1400" b="1" dirty="0" err="1">
                <a:solidFill>
                  <a:schemeClr val="bg1"/>
                </a:solidFill>
              </a:rPr>
              <a:t>BharatCares</a:t>
            </a:r>
            <a:endParaRPr lang="en-US" sz="1400" b="1" dirty="0">
              <a:solidFill>
                <a:schemeClr val="bg1"/>
              </a:solidFill>
            </a:endParaRPr>
          </a:p>
          <a:p>
            <a:endParaRPr lang="en-US" sz="1200" b="1" dirty="0">
              <a:solidFill>
                <a:schemeClr val="bg1"/>
              </a:solidFill>
            </a:endParaRPr>
          </a:p>
        </p:txBody>
      </p:sp>
      <p:sp>
        <p:nvSpPr>
          <p:cNvPr id="16" name="Shape 12"/>
          <p:cNvSpPr/>
          <p:nvPr/>
        </p:nvSpPr>
        <p:spPr>
          <a:xfrm>
            <a:off x="6126480" y="5760720"/>
            <a:ext cx="502920" cy="502920"/>
          </a:xfrm>
          <a:prstGeom prst="ellipse">
            <a:avLst/>
          </a:prstGeom>
          <a:solidFill>
            <a:srgbClr val="4C7FFF"/>
          </a:solidFill>
          <a:ln/>
        </p:spPr>
      </p:sp>
      <p:pic>
        <p:nvPicPr>
          <p:cNvPr id="17" name="Image 2" descr="/home/claude/pptx_work/icons/calendar.png"/>
          <p:cNvPicPr>
            <a:picLocks noChangeAspect="1"/>
          </p:cNvPicPr>
          <p:nvPr/>
        </p:nvPicPr>
        <p:blipFill>
          <a:blip r:embed="rId5"/>
          <a:stretch>
            <a:fillRect/>
          </a:stretch>
        </p:blipFill>
        <p:spPr>
          <a:xfrm>
            <a:off x="6239637" y="5873877"/>
            <a:ext cx="276606" cy="276606"/>
          </a:xfrm>
          <a:prstGeom prst="rect">
            <a:avLst/>
          </a:prstGeom>
        </p:spPr>
      </p:pic>
      <p:sp>
        <p:nvSpPr>
          <p:cNvPr id="18" name="Text 13"/>
          <p:cNvSpPr/>
          <p:nvPr/>
        </p:nvSpPr>
        <p:spPr>
          <a:xfrm>
            <a:off x="6766560" y="5687568"/>
            <a:ext cx="4572000" cy="59436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Internship Duration
</a:t>
            </a:r>
            <a:endParaRPr lang="en-US" sz="1100" dirty="0"/>
          </a:p>
          <a:p>
            <a:r>
              <a:rPr lang="en-IN" sz="1100" b="1" dirty="0">
                <a:solidFill>
                  <a:schemeClr val="bg1"/>
                </a:solidFill>
                <a:latin typeface="Aptos"/>
              </a:rPr>
              <a:t>17 Aug 2026 –  Present</a:t>
            </a:r>
            <a:endParaRPr lang="en-US" sz="11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02  ·  THE ORGANIZATION</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r>
              <a:rPr lang="en-US" sz="3200" b="1" dirty="0">
                <a:solidFill>
                  <a:srgbClr val="1E2761"/>
                </a:solidFill>
                <a:latin typeface="Cambria" pitchFamily="34" charset="0"/>
                <a:ea typeface="Cambria" pitchFamily="34" charset="-122"/>
                <a:cs typeface="Cambria" pitchFamily="34" charset="-120"/>
              </a:rPr>
              <a:t>About </a:t>
            </a:r>
            <a:r>
              <a:rPr lang="en-IN" sz="3200" b="1" dirty="0">
                <a:solidFill>
                  <a:srgbClr val="1E2761"/>
                </a:solidFill>
                <a:latin typeface="Cambria" pitchFamily="34" charset="0"/>
                <a:ea typeface="Cambria" pitchFamily="34" charset="-122"/>
                <a:cs typeface="Cambria" pitchFamily="34" charset="-120"/>
              </a:rPr>
              <a:t>Internship Program</a:t>
            </a:r>
            <a:endParaRPr lang="en-US" sz="3200" dirty="0"/>
          </a:p>
        </p:txBody>
      </p:sp>
      <p:sp>
        <p:nvSpPr>
          <p:cNvPr id="4" name="Text 2"/>
          <p:cNvSpPr/>
          <p:nvPr/>
        </p:nvSpPr>
        <p:spPr>
          <a:xfrm>
            <a:off x="575945" y="1506777"/>
            <a:ext cx="6035040" cy="1005840"/>
          </a:xfrm>
          <a:prstGeom prst="rect">
            <a:avLst/>
          </a:prstGeom>
          <a:noFill/>
          <a:ln/>
        </p:spPr>
        <p:txBody>
          <a:bodyPr wrap="square" rtlCol="0" anchor="ctr"/>
          <a:lstStyle/>
          <a:p>
            <a:pPr>
              <a:lnSpc>
                <a:spcPct val="125000"/>
              </a:lnSpc>
            </a:pPr>
            <a:r>
              <a:rPr lang="en-US" sz="1600" dirty="0"/>
              <a:t>AICTE | IBM </a:t>
            </a:r>
            <a:r>
              <a:rPr lang="en-US" sz="1600" dirty="0" err="1"/>
              <a:t>SkillsBuild</a:t>
            </a:r>
            <a:r>
              <a:rPr lang="en-US" sz="1600" dirty="0"/>
              <a:t> Academic Internship</a:t>
            </a:r>
            <a:br>
              <a:rPr lang="en-US" sz="1600" dirty="0"/>
            </a:br>
            <a:r>
              <a:rPr lang="en-US" sz="1600" dirty="0"/>
              <a:t>Data Analytics with AI</a:t>
            </a:r>
          </a:p>
          <a:p>
            <a:pPr marL="0" indent="0">
              <a:lnSpc>
                <a:spcPct val="125000"/>
              </a:lnSpc>
              <a:buNone/>
            </a:pPr>
            <a:endParaRPr lang="en-US" sz="1500" dirty="0"/>
          </a:p>
        </p:txBody>
      </p:sp>
      <p:sp>
        <p:nvSpPr>
          <p:cNvPr id="5" name="Shape 3"/>
          <p:cNvSpPr/>
          <p:nvPr/>
        </p:nvSpPr>
        <p:spPr>
          <a:xfrm>
            <a:off x="548640" y="2606040"/>
            <a:ext cx="457200" cy="457200"/>
          </a:xfrm>
          <a:prstGeom prst="ellipse">
            <a:avLst/>
          </a:prstGeom>
          <a:solidFill>
            <a:srgbClr val="1E2761"/>
          </a:solidFill>
          <a:ln/>
        </p:spPr>
      </p:sp>
      <p:pic>
        <p:nvPicPr>
          <p:cNvPr id="6" name="Image 0" descr="/home/claude/pptx_work/icons/laptop-code.png"/>
          <p:cNvPicPr>
            <a:picLocks noChangeAspect="1"/>
          </p:cNvPicPr>
          <p:nvPr/>
        </p:nvPicPr>
        <p:blipFill>
          <a:blip r:embed="rId3"/>
          <a:stretch>
            <a:fillRect/>
          </a:stretch>
        </p:blipFill>
        <p:spPr>
          <a:xfrm>
            <a:off x="651510" y="2708910"/>
            <a:ext cx="251460" cy="251460"/>
          </a:xfrm>
          <a:prstGeom prst="rect">
            <a:avLst/>
          </a:prstGeom>
        </p:spPr>
      </p:pic>
      <p:sp>
        <p:nvSpPr>
          <p:cNvPr id="7" name="Text 4"/>
          <p:cNvSpPr/>
          <p:nvPr/>
        </p:nvSpPr>
        <p:spPr>
          <a:xfrm>
            <a:off x="1188720" y="2606040"/>
            <a:ext cx="5394960" cy="457200"/>
          </a:xfrm>
          <a:prstGeom prst="rect">
            <a:avLst/>
          </a:prstGeom>
          <a:noFill/>
          <a:ln/>
        </p:spPr>
        <p:txBody>
          <a:bodyPr wrap="square" rtlCol="0" anchor="ctr"/>
          <a:lstStyle/>
          <a:p>
            <a:pPr marL="0" indent="0">
              <a:buNone/>
            </a:pPr>
            <a:r>
              <a:rPr lang="en-US" sz="1400" dirty="0">
                <a:solidFill>
                  <a:srgbClr val="445068"/>
                </a:solidFill>
                <a:latin typeface="Calibri" pitchFamily="34" charset="0"/>
                <a:ea typeface="Calibri" pitchFamily="34" charset="-122"/>
                <a:cs typeface="Calibri" pitchFamily="34" charset="-120"/>
              </a:rPr>
              <a:t>Developing responsive user interfaces</a:t>
            </a:r>
            <a:endParaRPr lang="en-US" sz="1400" dirty="0"/>
          </a:p>
        </p:txBody>
      </p:sp>
      <p:sp>
        <p:nvSpPr>
          <p:cNvPr id="8" name="Shape 5"/>
          <p:cNvSpPr/>
          <p:nvPr/>
        </p:nvSpPr>
        <p:spPr>
          <a:xfrm>
            <a:off x="548640" y="3264408"/>
            <a:ext cx="457200" cy="457200"/>
          </a:xfrm>
          <a:prstGeom prst="ellipse">
            <a:avLst/>
          </a:prstGeom>
          <a:solidFill>
            <a:srgbClr val="1E2761"/>
          </a:solidFill>
          <a:ln/>
        </p:spPr>
      </p:sp>
      <p:pic>
        <p:nvPicPr>
          <p:cNvPr id="9" name="Image 1" descr="/home/claude/pptx_work/icons/bolt.png"/>
          <p:cNvPicPr>
            <a:picLocks noChangeAspect="1"/>
          </p:cNvPicPr>
          <p:nvPr/>
        </p:nvPicPr>
        <p:blipFill>
          <a:blip r:embed="rId4"/>
          <a:stretch>
            <a:fillRect/>
          </a:stretch>
        </p:blipFill>
        <p:spPr>
          <a:xfrm>
            <a:off x="651510" y="3367278"/>
            <a:ext cx="251460" cy="251460"/>
          </a:xfrm>
          <a:prstGeom prst="rect">
            <a:avLst/>
          </a:prstGeom>
        </p:spPr>
      </p:pic>
      <p:sp>
        <p:nvSpPr>
          <p:cNvPr id="10" name="Text 6"/>
          <p:cNvSpPr/>
          <p:nvPr/>
        </p:nvSpPr>
        <p:spPr>
          <a:xfrm>
            <a:off x="1188720" y="3264408"/>
            <a:ext cx="5394960" cy="457200"/>
          </a:xfrm>
          <a:prstGeom prst="rect">
            <a:avLst/>
          </a:prstGeom>
          <a:noFill/>
          <a:ln/>
        </p:spPr>
        <p:txBody>
          <a:bodyPr wrap="square" rtlCol="0" anchor="ctr"/>
          <a:lstStyle/>
          <a:p>
            <a:pPr marL="0" indent="0">
              <a:buNone/>
            </a:pPr>
            <a:r>
              <a:rPr lang="en-US" sz="1400" dirty="0">
                <a:solidFill>
                  <a:srgbClr val="445068"/>
                </a:solidFill>
                <a:latin typeface="Calibri" pitchFamily="34" charset="0"/>
                <a:ea typeface="Calibri" pitchFamily="34" charset="-122"/>
                <a:cs typeface="Calibri" pitchFamily="34" charset="-120"/>
              </a:rPr>
              <a:t>Creating interactive frontend features</a:t>
            </a:r>
            <a:endParaRPr lang="en-US" sz="1400" dirty="0"/>
          </a:p>
        </p:txBody>
      </p:sp>
      <p:sp>
        <p:nvSpPr>
          <p:cNvPr id="11" name="Shape 7"/>
          <p:cNvSpPr/>
          <p:nvPr/>
        </p:nvSpPr>
        <p:spPr>
          <a:xfrm>
            <a:off x="548640" y="3922776"/>
            <a:ext cx="457200" cy="457200"/>
          </a:xfrm>
          <a:prstGeom prst="ellipse">
            <a:avLst/>
          </a:prstGeom>
          <a:solidFill>
            <a:srgbClr val="1E2761"/>
          </a:solidFill>
          <a:ln/>
        </p:spPr>
      </p:sp>
      <p:pic>
        <p:nvPicPr>
          <p:cNvPr id="12" name="Image 2" descr="/home/claude/pptx_work/icons/layer-group.png"/>
          <p:cNvPicPr>
            <a:picLocks noChangeAspect="1"/>
          </p:cNvPicPr>
          <p:nvPr/>
        </p:nvPicPr>
        <p:blipFill>
          <a:blip r:embed="rId5"/>
          <a:stretch>
            <a:fillRect/>
          </a:stretch>
        </p:blipFill>
        <p:spPr>
          <a:xfrm>
            <a:off x="651510" y="4025646"/>
            <a:ext cx="251460" cy="251460"/>
          </a:xfrm>
          <a:prstGeom prst="rect">
            <a:avLst/>
          </a:prstGeom>
        </p:spPr>
      </p:pic>
      <p:sp>
        <p:nvSpPr>
          <p:cNvPr id="13" name="Text 8"/>
          <p:cNvSpPr/>
          <p:nvPr/>
        </p:nvSpPr>
        <p:spPr>
          <a:xfrm>
            <a:off x="1188720" y="3922776"/>
            <a:ext cx="5394960" cy="457200"/>
          </a:xfrm>
          <a:prstGeom prst="rect">
            <a:avLst/>
          </a:prstGeom>
          <a:noFill/>
          <a:ln/>
        </p:spPr>
        <p:txBody>
          <a:bodyPr wrap="square" rtlCol="0" anchor="ctr"/>
          <a:lstStyle/>
          <a:p>
            <a:pPr marL="0" indent="0">
              <a:buNone/>
            </a:pPr>
            <a:r>
              <a:rPr lang="en-US" sz="1400" dirty="0">
                <a:solidFill>
                  <a:srgbClr val="445068"/>
                </a:solidFill>
                <a:latin typeface="Calibri" pitchFamily="34" charset="0"/>
                <a:ea typeface="Calibri" pitchFamily="34" charset="-122"/>
                <a:cs typeface="Calibri" pitchFamily="34" charset="-120"/>
              </a:rPr>
              <a:t>Building reusable frontend components</a:t>
            </a:r>
            <a:endParaRPr lang="en-US" sz="1400" dirty="0"/>
          </a:p>
        </p:txBody>
      </p:sp>
      <p:sp>
        <p:nvSpPr>
          <p:cNvPr id="14" name="Shape 9"/>
          <p:cNvSpPr/>
          <p:nvPr/>
        </p:nvSpPr>
        <p:spPr>
          <a:xfrm>
            <a:off x="548640" y="4581144"/>
            <a:ext cx="457200" cy="457200"/>
          </a:xfrm>
          <a:prstGeom prst="ellipse">
            <a:avLst/>
          </a:prstGeom>
          <a:solidFill>
            <a:srgbClr val="1E2761"/>
          </a:solidFill>
          <a:ln/>
        </p:spPr>
      </p:sp>
      <p:pic>
        <p:nvPicPr>
          <p:cNvPr id="15" name="Image 3" descr="/home/claude/pptx_work/icons/sitemap.png"/>
          <p:cNvPicPr>
            <a:picLocks noChangeAspect="1"/>
          </p:cNvPicPr>
          <p:nvPr/>
        </p:nvPicPr>
        <p:blipFill>
          <a:blip r:embed="rId6"/>
          <a:stretch>
            <a:fillRect/>
          </a:stretch>
        </p:blipFill>
        <p:spPr>
          <a:xfrm>
            <a:off x="651510" y="4684014"/>
            <a:ext cx="251460" cy="251460"/>
          </a:xfrm>
          <a:prstGeom prst="rect">
            <a:avLst/>
          </a:prstGeom>
        </p:spPr>
      </p:pic>
      <p:sp>
        <p:nvSpPr>
          <p:cNvPr id="16" name="Text 10"/>
          <p:cNvSpPr/>
          <p:nvPr/>
        </p:nvSpPr>
        <p:spPr>
          <a:xfrm>
            <a:off x="1188720" y="4581144"/>
            <a:ext cx="5394960" cy="457200"/>
          </a:xfrm>
          <a:prstGeom prst="rect">
            <a:avLst/>
          </a:prstGeom>
          <a:noFill/>
          <a:ln/>
        </p:spPr>
        <p:txBody>
          <a:bodyPr wrap="square" rtlCol="0" anchor="ctr"/>
          <a:lstStyle/>
          <a:p>
            <a:pPr marL="0" indent="0">
              <a:buNone/>
            </a:pPr>
            <a:r>
              <a:rPr lang="en-US" sz="1400" dirty="0">
                <a:solidFill>
                  <a:srgbClr val="445068"/>
                </a:solidFill>
                <a:latin typeface="Calibri" pitchFamily="34" charset="0"/>
                <a:ea typeface="Calibri" pitchFamily="34" charset="-122"/>
                <a:cs typeface="Calibri" pitchFamily="34" charset="-120"/>
              </a:rPr>
              <a:t>Improving website structure and user experience</a:t>
            </a:r>
            <a:endParaRPr lang="en-US" sz="1400" dirty="0"/>
          </a:p>
        </p:txBody>
      </p:sp>
      <p:sp>
        <p:nvSpPr>
          <p:cNvPr id="17" name="Shape 11"/>
          <p:cNvSpPr/>
          <p:nvPr/>
        </p:nvSpPr>
        <p:spPr>
          <a:xfrm>
            <a:off x="548640" y="5239512"/>
            <a:ext cx="457200" cy="457200"/>
          </a:xfrm>
          <a:prstGeom prst="ellipse">
            <a:avLst/>
          </a:prstGeom>
          <a:solidFill>
            <a:srgbClr val="1E2761"/>
          </a:solidFill>
          <a:ln/>
        </p:spPr>
      </p:sp>
      <p:pic>
        <p:nvPicPr>
          <p:cNvPr id="18" name="Image 4" descr="/home/claude/pptx_work/icons/code.png"/>
          <p:cNvPicPr>
            <a:picLocks noChangeAspect="1"/>
          </p:cNvPicPr>
          <p:nvPr/>
        </p:nvPicPr>
        <p:blipFill>
          <a:blip r:embed="rId7"/>
          <a:stretch>
            <a:fillRect/>
          </a:stretch>
        </p:blipFill>
        <p:spPr>
          <a:xfrm>
            <a:off x="651510" y="5342382"/>
            <a:ext cx="251460" cy="251460"/>
          </a:xfrm>
          <a:prstGeom prst="rect">
            <a:avLst/>
          </a:prstGeom>
        </p:spPr>
      </p:pic>
      <p:sp>
        <p:nvSpPr>
          <p:cNvPr id="19" name="Text 12"/>
          <p:cNvSpPr/>
          <p:nvPr/>
        </p:nvSpPr>
        <p:spPr>
          <a:xfrm>
            <a:off x="1188720" y="5239512"/>
            <a:ext cx="5394960" cy="457200"/>
          </a:xfrm>
          <a:prstGeom prst="rect">
            <a:avLst/>
          </a:prstGeom>
          <a:noFill/>
          <a:ln/>
        </p:spPr>
        <p:txBody>
          <a:bodyPr wrap="square" rtlCol="0" anchor="ctr"/>
          <a:lstStyle/>
          <a:p>
            <a:pPr marL="0" indent="0">
              <a:buNone/>
            </a:pPr>
            <a:r>
              <a:rPr lang="en-US" sz="1400" dirty="0">
                <a:solidFill>
                  <a:srgbClr val="445068"/>
                </a:solidFill>
                <a:latin typeface="Calibri" pitchFamily="34" charset="0"/>
                <a:ea typeface="Calibri" pitchFamily="34" charset="-122"/>
                <a:cs typeface="Calibri" pitchFamily="34" charset="-120"/>
              </a:rPr>
              <a:t>Working on modern frontend development practices</a:t>
            </a:r>
            <a:endParaRPr lang="en-US" sz="1400" dirty="0"/>
          </a:p>
        </p:txBody>
      </p:sp>
      <p:sp>
        <p:nvSpPr>
          <p:cNvPr id="20" name="Shape 13"/>
          <p:cNvSpPr/>
          <p:nvPr/>
        </p:nvSpPr>
        <p:spPr>
          <a:xfrm>
            <a:off x="7040880" y="1371600"/>
            <a:ext cx="4572000" cy="4617720"/>
          </a:xfrm>
          <a:prstGeom prst="roundRect">
            <a:avLst>
              <a:gd name="adj" fmla="val 2400"/>
            </a:avLst>
          </a:prstGeom>
          <a:solidFill>
            <a:srgbClr val="1E2761"/>
          </a:solidFill>
          <a:ln/>
        </p:spPr>
      </p:sp>
      <p:sp>
        <p:nvSpPr>
          <p:cNvPr id="21" name="Shape 14"/>
          <p:cNvSpPr/>
          <p:nvPr/>
        </p:nvSpPr>
        <p:spPr>
          <a:xfrm>
            <a:off x="8641080" y="1965960"/>
            <a:ext cx="1371600" cy="1371600"/>
          </a:xfrm>
          <a:prstGeom prst="ellipse">
            <a:avLst/>
          </a:prstGeom>
          <a:solidFill>
            <a:srgbClr val="4C7FFF"/>
          </a:solidFill>
          <a:ln/>
        </p:spPr>
      </p:sp>
      <p:pic>
        <p:nvPicPr>
          <p:cNvPr id="22" name="Image 5" descr="/home/claude/pptx_work/icons/building.png"/>
          <p:cNvPicPr>
            <a:picLocks noChangeAspect="1"/>
          </p:cNvPicPr>
          <p:nvPr/>
        </p:nvPicPr>
        <p:blipFill>
          <a:blip r:embed="rId8"/>
          <a:stretch>
            <a:fillRect/>
          </a:stretch>
        </p:blipFill>
        <p:spPr>
          <a:xfrm>
            <a:off x="8949690" y="2274570"/>
            <a:ext cx="754380" cy="754380"/>
          </a:xfrm>
          <a:prstGeom prst="rect">
            <a:avLst/>
          </a:prstGeom>
        </p:spPr>
      </p:pic>
      <p:sp>
        <p:nvSpPr>
          <p:cNvPr id="23" name="Text 15"/>
          <p:cNvSpPr/>
          <p:nvPr/>
        </p:nvSpPr>
        <p:spPr>
          <a:xfrm>
            <a:off x="7269480" y="3657600"/>
            <a:ext cx="4114800" cy="640080"/>
          </a:xfrm>
          <a:prstGeom prst="rect">
            <a:avLst/>
          </a:prstGeom>
          <a:noFill/>
          <a:ln/>
        </p:spPr>
        <p:txBody>
          <a:bodyPr wrap="square"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DIGITAL PRODUCT</a:t>
            </a:r>
            <a:endParaRPr lang="en-US" sz="1400" dirty="0"/>
          </a:p>
          <a:p>
            <a:pPr marL="0" indent="0" algn="ctr">
              <a:buNone/>
            </a:pPr>
            <a:r>
              <a:rPr lang="en-US" sz="1400" b="1" kern="0" spc="100" dirty="0">
                <a:solidFill>
                  <a:srgbClr val="FFFFFF"/>
                </a:solidFill>
                <a:latin typeface="Calibri" pitchFamily="34" charset="0"/>
                <a:ea typeface="Calibri" pitchFamily="34" charset="-122"/>
                <a:cs typeface="Calibri" pitchFamily="34" charset="-120"/>
              </a:rPr>
              <a:t>STUDIO</a:t>
            </a:r>
            <a:endParaRPr lang="en-US" sz="1400" dirty="0"/>
          </a:p>
        </p:txBody>
      </p:sp>
      <p:sp>
        <p:nvSpPr>
          <p:cNvPr id="24" name="Shape 16"/>
          <p:cNvSpPr/>
          <p:nvPr/>
        </p:nvSpPr>
        <p:spPr>
          <a:xfrm>
            <a:off x="8641080" y="4434840"/>
            <a:ext cx="1371600" cy="0"/>
          </a:xfrm>
          <a:prstGeom prst="line">
            <a:avLst/>
          </a:prstGeom>
          <a:noFill/>
          <a:ln w="25400">
            <a:solidFill>
              <a:srgbClr val="4C7FFF"/>
            </a:solidFill>
            <a:prstDash val="solid"/>
          </a:ln>
        </p:spPr>
      </p:sp>
      <p:sp>
        <p:nvSpPr>
          <p:cNvPr id="25" name="Text 17"/>
          <p:cNvSpPr/>
          <p:nvPr/>
        </p:nvSpPr>
        <p:spPr>
          <a:xfrm>
            <a:off x="7269480" y="4617720"/>
            <a:ext cx="4114800" cy="457200"/>
          </a:xfrm>
          <a:prstGeom prst="rect">
            <a:avLst/>
          </a:prstGeom>
          <a:noFill/>
          <a:ln/>
        </p:spPr>
        <p:txBody>
          <a:bodyPr wrap="square"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Websites  ·  Interfaces  ·  Frontend Engineering</a:t>
            </a:r>
            <a:endParaRPr lang="en-US" sz="1150" dirty="0"/>
          </a:p>
        </p:txBody>
      </p:sp>
      <p:sp>
        <p:nvSpPr>
          <p:cNvPr id="26" name="Text 1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03  ·  INTERNSHIP OVERVIEW</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Internship Overview</a:t>
            </a:r>
            <a:endParaRPr lang="en-US" sz="3200" dirty="0"/>
          </a:p>
        </p:txBody>
      </p:sp>
      <p:sp>
        <p:nvSpPr>
          <p:cNvPr id="4" name="Shape 2"/>
          <p:cNvSpPr/>
          <p:nvPr/>
        </p:nvSpPr>
        <p:spPr>
          <a:xfrm>
            <a:off x="548640" y="1417320"/>
            <a:ext cx="3566160" cy="1051560"/>
          </a:xfrm>
          <a:prstGeom prst="roundRect">
            <a:avLst>
              <a:gd name="adj" fmla="val 8696"/>
            </a:avLst>
          </a:prstGeom>
          <a:solidFill>
            <a:srgbClr val="FFFFFF"/>
          </a:solidFill>
          <a:ln w="12700">
            <a:solidFill>
              <a:srgbClr val="CADCFC"/>
            </a:solidFill>
            <a:prstDash val="solid"/>
          </a:ln>
          <a:effectLst>
            <a:outerShdw blurRad="76200" dist="25400" dir="5400000" algn="bl" rotWithShape="0">
              <a:srgbClr val="1E2761">
                <a:alpha val="12000"/>
              </a:srgbClr>
            </a:outerShdw>
          </a:effectLst>
        </p:spPr>
      </p:sp>
      <p:sp>
        <p:nvSpPr>
          <p:cNvPr id="5" name="Shape 3"/>
          <p:cNvSpPr/>
          <p:nvPr/>
        </p:nvSpPr>
        <p:spPr>
          <a:xfrm>
            <a:off x="749808" y="1691640"/>
            <a:ext cx="502920" cy="502920"/>
          </a:xfrm>
          <a:prstGeom prst="ellipse">
            <a:avLst/>
          </a:prstGeom>
          <a:solidFill>
            <a:srgbClr val="1E2761"/>
          </a:solidFill>
          <a:ln/>
        </p:spPr>
      </p:sp>
      <p:pic>
        <p:nvPicPr>
          <p:cNvPr id="6" name="Image 0" descr="/home/claude/pptx_work/icons/user-tie.png"/>
          <p:cNvPicPr>
            <a:picLocks noChangeAspect="1"/>
          </p:cNvPicPr>
          <p:nvPr/>
        </p:nvPicPr>
        <p:blipFill>
          <a:blip r:embed="rId3"/>
          <a:stretch>
            <a:fillRect/>
          </a:stretch>
        </p:blipFill>
        <p:spPr>
          <a:xfrm>
            <a:off x="862965" y="1804797"/>
            <a:ext cx="276606" cy="276606"/>
          </a:xfrm>
          <a:prstGeom prst="rect">
            <a:avLst/>
          </a:prstGeom>
        </p:spPr>
      </p:pic>
      <p:sp>
        <p:nvSpPr>
          <p:cNvPr id="7" name="Text 4"/>
          <p:cNvSpPr/>
          <p:nvPr/>
        </p:nvSpPr>
        <p:spPr>
          <a:xfrm>
            <a:off x="1417320" y="1600200"/>
            <a:ext cx="2560320" cy="822960"/>
          </a:xfrm>
          <a:prstGeom prst="rect">
            <a:avLst/>
          </a:prstGeom>
          <a:noFill/>
          <a:ln/>
        </p:spPr>
        <p:txBody>
          <a:bodyPr wrap="square" rtlCol="0" anchor="ctr"/>
          <a:lstStyle/>
          <a:p>
            <a:pPr marL="0" indent="0">
              <a:buNone/>
            </a:pPr>
            <a:r>
              <a:rPr lang="en-US" sz="1000" dirty="0">
                <a:solidFill>
                  <a:srgbClr val="445068"/>
                </a:solidFill>
                <a:latin typeface="Calibri" pitchFamily="34" charset="0"/>
                <a:ea typeface="Calibri" pitchFamily="34" charset="-122"/>
                <a:cs typeface="Calibri" pitchFamily="34" charset="-120"/>
              </a:rPr>
              <a:t>ROLE
</a:t>
            </a:r>
            <a:endParaRPr lang="en-US" sz="1100" b="1" dirty="0"/>
          </a:p>
          <a:p>
            <a:r>
              <a:rPr lang="en-IN" sz="1400" b="1" dirty="0"/>
              <a:t>Data Analytics with AI Intern</a:t>
            </a:r>
          </a:p>
        </p:txBody>
      </p:sp>
      <p:sp>
        <p:nvSpPr>
          <p:cNvPr id="8" name="Shape 5"/>
          <p:cNvSpPr/>
          <p:nvPr/>
        </p:nvSpPr>
        <p:spPr>
          <a:xfrm>
            <a:off x="4343400" y="1417320"/>
            <a:ext cx="3566160" cy="1051560"/>
          </a:xfrm>
          <a:prstGeom prst="roundRect">
            <a:avLst>
              <a:gd name="adj" fmla="val 8696"/>
            </a:avLst>
          </a:prstGeom>
          <a:solidFill>
            <a:srgbClr val="FFFFFF"/>
          </a:solidFill>
          <a:ln w="12700">
            <a:solidFill>
              <a:srgbClr val="CADCFC"/>
            </a:solidFill>
            <a:prstDash val="solid"/>
          </a:ln>
          <a:effectLst>
            <a:outerShdw blurRad="76200" dist="25400" dir="5400000" algn="bl" rotWithShape="0">
              <a:srgbClr val="1E2761">
                <a:alpha val="12000"/>
              </a:srgbClr>
            </a:outerShdw>
          </a:effectLst>
        </p:spPr>
      </p:sp>
      <p:sp>
        <p:nvSpPr>
          <p:cNvPr id="9" name="Shape 6"/>
          <p:cNvSpPr/>
          <p:nvPr/>
        </p:nvSpPr>
        <p:spPr>
          <a:xfrm>
            <a:off x="4544568" y="1691640"/>
            <a:ext cx="502920" cy="502920"/>
          </a:xfrm>
          <a:prstGeom prst="ellipse">
            <a:avLst/>
          </a:prstGeom>
          <a:solidFill>
            <a:srgbClr val="1E2761"/>
          </a:solidFill>
          <a:ln/>
        </p:spPr>
      </p:sp>
      <p:pic>
        <p:nvPicPr>
          <p:cNvPr id="10" name="Image 1" descr="/home/claude/pptx_work/icons/building.png"/>
          <p:cNvPicPr>
            <a:picLocks noChangeAspect="1"/>
          </p:cNvPicPr>
          <p:nvPr/>
        </p:nvPicPr>
        <p:blipFill>
          <a:blip r:embed="rId4"/>
          <a:stretch>
            <a:fillRect/>
          </a:stretch>
        </p:blipFill>
        <p:spPr>
          <a:xfrm>
            <a:off x="4657725" y="1804797"/>
            <a:ext cx="276606" cy="276606"/>
          </a:xfrm>
          <a:prstGeom prst="rect">
            <a:avLst/>
          </a:prstGeom>
        </p:spPr>
      </p:pic>
      <p:sp>
        <p:nvSpPr>
          <p:cNvPr id="11" name="Text 7"/>
          <p:cNvSpPr/>
          <p:nvPr/>
        </p:nvSpPr>
        <p:spPr>
          <a:xfrm>
            <a:off x="5212080" y="1600200"/>
            <a:ext cx="2560320" cy="822960"/>
          </a:xfrm>
          <a:prstGeom prst="rect">
            <a:avLst/>
          </a:prstGeom>
          <a:noFill/>
          <a:ln/>
        </p:spPr>
        <p:txBody>
          <a:bodyPr wrap="square" rtlCol="0" anchor="ctr"/>
          <a:lstStyle/>
          <a:p>
            <a:r>
              <a:rPr lang="en-US" sz="1000" dirty="0">
                <a:solidFill>
                  <a:srgbClr val="445068"/>
                </a:solidFill>
                <a:latin typeface="Calibri" pitchFamily="34" charset="0"/>
                <a:ea typeface="Calibri" pitchFamily="34" charset="-122"/>
                <a:cs typeface="Calibri" pitchFamily="34" charset="-120"/>
              </a:rPr>
              <a:t>ORGANIZATION</a:t>
            </a:r>
          </a:p>
          <a:p>
            <a:r>
              <a:rPr lang="en-US" sz="1000" dirty="0">
                <a:solidFill>
                  <a:srgbClr val="445068"/>
                </a:solidFill>
                <a:latin typeface="Calibri" pitchFamily="34" charset="0"/>
                <a:ea typeface="Calibri" pitchFamily="34" charset="-122"/>
                <a:cs typeface="Calibri" pitchFamily="34" charset="-120"/>
              </a:rPr>
              <a:t>
</a:t>
            </a:r>
            <a:r>
              <a:rPr lang="en-IN" sz="1000" dirty="0"/>
              <a:t> </a:t>
            </a:r>
            <a:r>
              <a:rPr lang="en-IN" sz="1400" b="1" dirty="0"/>
              <a:t>AICTE – </a:t>
            </a:r>
            <a:r>
              <a:rPr lang="en-IN" sz="1400" b="1" dirty="0" err="1"/>
              <a:t>BharatCares</a:t>
            </a:r>
            <a:r>
              <a:rPr lang="en-IN" sz="1400" b="1" dirty="0"/>
              <a:t> – IBM </a:t>
            </a:r>
            <a:r>
              <a:rPr lang="en-IN" sz="1400" b="1" dirty="0" err="1"/>
              <a:t>SkillsBuild</a:t>
            </a:r>
            <a:endParaRPr lang="en-US" sz="1000" b="1" dirty="0"/>
          </a:p>
        </p:txBody>
      </p:sp>
      <p:sp>
        <p:nvSpPr>
          <p:cNvPr id="12" name="Shape 8"/>
          <p:cNvSpPr/>
          <p:nvPr/>
        </p:nvSpPr>
        <p:spPr>
          <a:xfrm>
            <a:off x="8138160" y="1417320"/>
            <a:ext cx="3566160" cy="1051560"/>
          </a:xfrm>
          <a:prstGeom prst="roundRect">
            <a:avLst>
              <a:gd name="adj" fmla="val 8696"/>
            </a:avLst>
          </a:prstGeom>
          <a:solidFill>
            <a:srgbClr val="FFFFFF"/>
          </a:solidFill>
          <a:ln w="12700">
            <a:solidFill>
              <a:srgbClr val="CADCFC"/>
            </a:solidFill>
            <a:prstDash val="solid"/>
          </a:ln>
          <a:effectLst>
            <a:outerShdw blurRad="76200" dist="25400" dir="5400000" algn="bl" rotWithShape="0">
              <a:srgbClr val="1E2761">
                <a:alpha val="12000"/>
              </a:srgbClr>
            </a:outerShdw>
          </a:effectLst>
        </p:spPr>
      </p:sp>
      <p:sp>
        <p:nvSpPr>
          <p:cNvPr id="13" name="Shape 9"/>
          <p:cNvSpPr/>
          <p:nvPr/>
        </p:nvSpPr>
        <p:spPr>
          <a:xfrm>
            <a:off x="8339328" y="1691640"/>
            <a:ext cx="502920" cy="502920"/>
          </a:xfrm>
          <a:prstGeom prst="ellipse">
            <a:avLst/>
          </a:prstGeom>
          <a:solidFill>
            <a:srgbClr val="1E2761"/>
          </a:solidFill>
          <a:ln/>
        </p:spPr>
      </p:sp>
      <p:pic>
        <p:nvPicPr>
          <p:cNvPr id="14" name="Image 2" descr="/home/claude/pptx_work/icons/desktop.png"/>
          <p:cNvPicPr>
            <a:picLocks noChangeAspect="1"/>
          </p:cNvPicPr>
          <p:nvPr/>
        </p:nvPicPr>
        <p:blipFill>
          <a:blip r:embed="rId5"/>
          <a:stretch>
            <a:fillRect/>
          </a:stretch>
        </p:blipFill>
        <p:spPr>
          <a:xfrm>
            <a:off x="8452485" y="1804797"/>
            <a:ext cx="276606" cy="276606"/>
          </a:xfrm>
          <a:prstGeom prst="rect">
            <a:avLst/>
          </a:prstGeom>
        </p:spPr>
      </p:pic>
      <p:sp>
        <p:nvSpPr>
          <p:cNvPr id="15" name="Text 10"/>
          <p:cNvSpPr/>
          <p:nvPr/>
        </p:nvSpPr>
        <p:spPr>
          <a:xfrm>
            <a:off x="9006840" y="1600200"/>
            <a:ext cx="2560320" cy="822960"/>
          </a:xfrm>
          <a:prstGeom prst="rect">
            <a:avLst/>
          </a:prstGeom>
          <a:noFill/>
          <a:ln/>
        </p:spPr>
        <p:txBody>
          <a:bodyPr wrap="square" rtlCol="0" anchor="ctr"/>
          <a:lstStyle/>
          <a:p>
            <a:r>
              <a:rPr lang="en-US" sz="1000" dirty="0">
                <a:solidFill>
                  <a:srgbClr val="445068"/>
                </a:solidFill>
                <a:latin typeface="Calibri" pitchFamily="34" charset="0"/>
                <a:ea typeface="Calibri" pitchFamily="34" charset="-122"/>
                <a:cs typeface="Calibri" pitchFamily="34" charset="-120"/>
              </a:rPr>
              <a:t>FIELD</a:t>
            </a:r>
          </a:p>
          <a:p>
            <a:r>
              <a:rPr lang="en-US" sz="1000" dirty="0">
                <a:solidFill>
                  <a:srgbClr val="445068"/>
                </a:solidFill>
                <a:latin typeface="Calibri" pitchFamily="34" charset="0"/>
                <a:ea typeface="Calibri" pitchFamily="34" charset="-122"/>
                <a:cs typeface="Calibri" pitchFamily="34" charset="-120"/>
              </a:rPr>
              <a:t>
</a:t>
            </a:r>
            <a:r>
              <a:rPr lang="en-IN" sz="1100" b="1" dirty="0"/>
              <a:t> </a:t>
            </a:r>
            <a:r>
              <a:rPr lang="en-IN" sz="1400" b="1" dirty="0"/>
              <a:t>Data Analytics &amp; AI</a:t>
            </a:r>
            <a:endParaRPr lang="en-US" sz="1000" b="1" dirty="0"/>
          </a:p>
        </p:txBody>
      </p:sp>
      <p:sp>
        <p:nvSpPr>
          <p:cNvPr id="16" name="Text 11"/>
          <p:cNvSpPr/>
          <p:nvPr/>
        </p:nvSpPr>
        <p:spPr>
          <a:xfrm>
            <a:off x="548640" y="2788920"/>
            <a:ext cx="5486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INTERNSHIP TIMELINE</a:t>
            </a:r>
            <a:endParaRPr lang="en-US" sz="1200" dirty="0"/>
          </a:p>
        </p:txBody>
      </p:sp>
      <p:sp>
        <p:nvSpPr>
          <p:cNvPr id="17" name="Shape 12"/>
          <p:cNvSpPr/>
          <p:nvPr/>
        </p:nvSpPr>
        <p:spPr>
          <a:xfrm>
            <a:off x="960120" y="3337560"/>
            <a:ext cx="10241280" cy="0"/>
          </a:xfrm>
          <a:prstGeom prst="line">
            <a:avLst/>
          </a:prstGeom>
          <a:noFill/>
          <a:ln w="25400">
            <a:solidFill>
              <a:srgbClr val="1E2761"/>
            </a:solidFill>
            <a:prstDash val="solid"/>
          </a:ln>
        </p:spPr>
      </p:sp>
      <p:sp>
        <p:nvSpPr>
          <p:cNvPr id="18" name="Shape 13"/>
          <p:cNvSpPr/>
          <p:nvPr/>
        </p:nvSpPr>
        <p:spPr>
          <a:xfrm>
            <a:off x="877824" y="3255264"/>
            <a:ext cx="164592" cy="164592"/>
          </a:xfrm>
          <a:prstGeom prst="ellipse">
            <a:avLst/>
          </a:prstGeom>
          <a:solidFill>
            <a:srgbClr val="4C7FFF"/>
          </a:solidFill>
          <a:ln w="19050">
            <a:solidFill>
              <a:srgbClr val="FFFFFF"/>
            </a:solidFill>
            <a:prstDash val="solid"/>
          </a:ln>
        </p:spPr>
      </p:sp>
      <p:sp>
        <p:nvSpPr>
          <p:cNvPr id="19" name="Text 14"/>
          <p:cNvSpPr/>
          <p:nvPr/>
        </p:nvSpPr>
        <p:spPr>
          <a:xfrm>
            <a:off x="137160" y="3520440"/>
            <a:ext cx="1645920" cy="2743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17 Aug 2026</a:t>
            </a:r>
            <a:endParaRPr lang="en-US" sz="1100" dirty="0"/>
          </a:p>
        </p:txBody>
      </p:sp>
      <p:sp>
        <p:nvSpPr>
          <p:cNvPr id="20" name="Text 15"/>
          <p:cNvSpPr/>
          <p:nvPr/>
        </p:nvSpPr>
        <p:spPr>
          <a:xfrm>
            <a:off x="137160" y="3794760"/>
            <a:ext cx="1645920" cy="457200"/>
          </a:xfrm>
          <a:prstGeom prst="rect">
            <a:avLst/>
          </a:prstGeom>
          <a:noFill/>
          <a:ln/>
        </p:spPr>
        <p:txBody>
          <a:bodyPr wrap="square" rtlCol="0" anchor="ctr"/>
          <a:lstStyle/>
          <a:p>
            <a:pPr marL="0" indent="0" algn="ctr">
              <a:buNone/>
            </a:pPr>
            <a:r>
              <a:rPr lang="en-US" sz="950" dirty="0">
                <a:solidFill>
                  <a:srgbClr val="445068"/>
                </a:solidFill>
                <a:latin typeface="Calibri" pitchFamily="34" charset="0"/>
                <a:ea typeface="Calibri" pitchFamily="34" charset="-122"/>
                <a:cs typeface="Calibri" pitchFamily="34" charset="-120"/>
              </a:rPr>
              <a:t>Internship Start</a:t>
            </a:r>
            <a:endParaRPr lang="en-US" sz="950" dirty="0"/>
          </a:p>
        </p:txBody>
      </p:sp>
      <p:sp>
        <p:nvSpPr>
          <p:cNvPr id="21" name="Shape 16"/>
          <p:cNvSpPr/>
          <p:nvPr/>
        </p:nvSpPr>
        <p:spPr>
          <a:xfrm>
            <a:off x="4078224" y="3255264"/>
            <a:ext cx="164592" cy="164592"/>
          </a:xfrm>
          <a:prstGeom prst="ellipse">
            <a:avLst/>
          </a:prstGeom>
          <a:solidFill>
            <a:srgbClr val="4C7FFF"/>
          </a:solidFill>
          <a:ln w="19050">
            <a:solidFill>
              <a:srgbClr val="FFFFFF"/>
            </a:solidFill>
            <a:prstDash val="solid"/>
          </a:ln>
        </p:spPr>
      </p:sp>
      <p:sp>
        <p:nvSpPr>
          <p:cNvPr id="22" name="Text 17"/>
          <p:cNvSpPr/>
          <p:nvPr/>
        </p:nvSpPr>
        <p:spPr>
          <a:xfrm>
            <a:off x="3337560" y="3520440"/>
            <a:ext cx="1645920" cy="2743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Sept 2026</a:t>
            </a:r>
            <a:endParaRPr lang="en-US" sz="1100" dirty="0"/>
          </a:p>
        </p:txBody>
      </p:sp>
      <p:sp>
        <p:nvSpPr>
          <p:cNvPr id="23" name="Text 18"/>
          <p:cNvSpPr/>
          <p:nvPr/>
        </p:nvSpPr>
        <p:spPr>
          <a:xfrm>
            <a:off x="3337560" y="3794760"/>
            <a:ext cx="1645920" cy="457200"/>
          </a:xfrm>
          <a:prstGeom prst="rect">
            <a:avLst/>
          </a:prstGeom>
          <a:noFill/>
          <a:ln/>
        </p:spPr>
        <p:txBody>
          <a:bodyPr wrap="square" rtlCol="0" anchor="ctr"/>
          <a:lstStyle/>
          <a:p>
            <a:pPr algn="ctr"/>
            <a:r>
              <a:rPr lang="en-IN" sz="1000" dirty="0"/>
              <a:t>Orientation · Data Cleaning · Preprocessing · EDA</a:t>
            </a:r>
            <a:endParaRPr lang="en-US" sz="950" dirty="0"/>
          </a:p>
        </p:txBody>
      </p:sp>
      <p:sp>
        <p:nvSpPr>
          <p:cNvPr id="24" name="Shape 19"/>
          <p:cNvSpPr/>
          <p:nvPr/>
        </p:nvSpPr>
        <p:spPr>
          <a:xfrm>
            <a:off x="7278624" y="3255264"/>
            <a:ext cx="164592" cy="164592"/>
          </a:xfrm>
          <a:prstGeom prst="ellipse">
            <a:avLst/>
          </a:prstGeom>
          <a:solidFill>
            <a:srgbClr val="4C7FFF"/>
          </a:solidFill>
          <a:ln w="19050">
            <a:solidFill>
              <a:srgbClr val="FFFFFF"/>
            </a:solidFill>
            <a:prstDash val="solid"/>
          </a:ln>
        </p:spPr>
      </p:sp>
      <p:sp>
        <p:nvSpPr>
          <p:cNvPr id="25" name="Text 20"/>
          <p:cNvSpPr/>
          <p:nvPr/>
        </p:nvSpPr>
        <p:spPr>
          <a:xfrm>
            <a:off x="6537960" y="3520440"/>
            <a:ext cx="1645920" cy="2743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oct 2026</a:t>
            </a:r>
            <a:endParaRPr lang="en-US" sz="1100" dirty="0"/>
          </a:p>
        </p:txBody>
      </p:sp>
      <p:sp>
        <p:nvSpPr>
          <p:cNvPr id="26" name="Text 21"/>
          <p:cNvSpPr/>
          <p:nvPr/>
        </p:nvSpPr>
        <p:spPr>
          <a:xfrm>
            <a:off x="6537960" y="3794760"/>
            <a:ext cx="1645920" cy="457200"/>
          </a:xfrm>
          <a:prstGeom prst="rect">
            <a:avLst/>
          </a:prstGeom>
          <a:noFill/>
          <a:ln/>
        </p:spPr>
        <p:txBody>
          <a:bodyPr wrap="square" rtlCol="0" anchor="ctr"/>
          <a:lstStyle/>
          <a:p>
            <a:pPr algn="ctr"/>
            <a:r>
              <a:rPr lang="en-IN" sz="1000" dirty="0"/>
              <a:t>Predictive Analytics · Machine Learning · Visualization · AI Insights</a:t>
            </a:r>
            <a:endParaRPr lang="en-US" sz="950" dirty="0"/>
          </a:p>
        </p:txBody>
      </p:sp>
      <p:sp>
        <p:nvSpPr>
          <p:cNvPr id="27" name="Shape 22"/>
          <p:cNvSpPr/>
          <p:nvPr/>
        </p:nvSpPr>
        <p:spPr>
          <a:xfrm>
            <a:off x="10479024" y="3255264"/>
            <a:ext cx="164592" cy="164592"/>
          </a:xfrm>
          <a:prstGeom prst="ellipse">
            <a:avLst/>
          </a:prstGeom>
          <a:solidFill>
            <a:srgbClr val="4C7FFF"/>
          </a:solidFill>
          <a:ln w="19050">
            <a:solidFill>
              <a:srgbClr val="FFFFFF"/>
            </a:solidFill>
            <a:prstDash val="solid"/>
          </a:ln>
        </p:spPr>
      </p:sp>
      <p:sp>
        <p:nvSpPr>
          <p:cNvPr id="28" name="Text 23"/>
          <p:cNvSpPr/>
          <p:nvPr/>
        </p:nvSpPr>
        <p:spPr>
          <a:xfrm>
            <a:off x="9738360" y="3520440"/>
            <a:ext cx="1645920" cy="2743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2026</a:t>
            </a:r>
            <a:endParaRPr lang="en-US" sz="1100" dirty="0"/>
          </a:p>
        </p:txBody>
      </p:sp>
      <p:sp>
        <p:nvSpPr>
          <p:cNvPr id="29" name="Text 24"/>
          <p:cNvSpPr/>
          <p:nvPr/>
        </p:nvSpPr>
        <p:spPr>
          <a:xfrm>
            <a:off x="9738360" y="3794760"/>
            <a:ext cx="1645920" cy="457200"/>
          </a:xfrm>
          <a:prstGeom prst="rect">
            <a:avLst/>
          </a:prstGeom>
          <a:noFill/>
          <a:ln/>
        </p:spPr>
        <p:txBody>
          <a:bodyPr wrap="square" rtlCol="0" anchor="ctr"/>
          <a:lstStyle/>
          <a:p>
            <a:pPr marL="0" indent="0" algn="ctr">
              <a:buNone/>
            </a:pPr>
            <a:r>
              <a:rPr lang="en-US" sz="950" dirty="0">
                <a:solidFill>
                  <a:srgbClr val="445068"/>
                </a:solidFill>
                <a:latin typeface="Calibri" pitchFamily="34" charset="0"/>
                <a:ea typeface="Calibri" pitchFamily="34" charset="-122"/>
                <a:cs typeface="Calibri" pitchFamily="34" charset="-120"/>
              </a:rPr>
              <a:t>Internship Completion</a:t>
            </a:r>
            <a:endParaRPr lang="en-US" sz="950" dirty="0"/>
          </a:p>
        </p:txBody>
      </p:sp>
      <p:sp>
        <p:nvSpPr>
          <p:cNvPr id="30" name="Text 25"/>
          <p:cNvSpPr/>
          <p:nvPr/>
        </p:nvSpPr>
        <p:spPr>
          <a:xfrm>
            <a:off x="548640" y="4526280"/>
            <a:ext cx="5486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MAIN RESPONSIBILITIES</a:t>
            </a:r>
            <a:endParaRPr lang="en-US" sz="1200" dirty="0"/>
          </a:p>
        </p:txBody>
      </p:sp>
      <p:sp>
        <p:nvSpPr>
          <p:cNvPr id="31" name="Text 26"/>
          <p:cNvSpPr/>
          <p:nvPr/>
        </p:nvSpPr>
        <p:spPr>
          <a:xfrm>
            <a:off x="548640" y="4892040"/>
            <a:ext cx="5212080" cy="1371600"/>
          </a:xfrm>
          <a:prstGeom prst="rect">
            <a:avLst/>
          </a:prstGeom>
          <a:noFill/>
          <a:ln/>
        </p:spPr>
        <p:txBody>
          <a:bodyPr wrap="square" rtlCol="0" anchor="t"/>
          <a:lstStyle/>
          <a:p>
            <a:pPr marL="285750" lvl="0" indent="-285750" algn="just">
              <a:buFont typeface="Arial" panose="020B0604020202020204" pitchFamily="34" charset="0"/>
              <a:buChar char="•"/>
            </a:pPr>
            <a:r>
              <a:rPr lang="en-IN" sz="1400" dirty="0"/>
              <a:t>Complete IBM </a:t>
            </a:r>
            <a:r>
              <a:rPr lang="en-IN" sz="1400" dirty="0" err="1"/>
              <a:t>SkillsBuild</a:t>
            </a:r>
            <a:r>
              <a:rPr lang="en-IN" sz="1400" dirty="0"/>
              <a:t> learning plan </a:t>
            </a:r>
          </a:p>
          <a:p>
            <a:pPr marL="285750" lvl="0" indent="-285750" algn="just">
              <a:buFont typeface="Arial" panose="020B0604020202020204" pitchFamily="34" charset="0"/>
              <a:buChar char="•"/>
            </a:pPr>
            <a:r>
              <a:rPr lang="en-IN" sz="1400" dirty="0"/>
              <a:t>Attend weekly masterclasses and mentor sessions </a:t>
            </a:r>
          </a:p>
          <a:p>
            <a:pPr marL="285750" lvl="0" indent="-285750" algn="just">
              <a:buFont typeface="Arial" panose="020B0604020202020204" pitchFamily="34" charset="0"/>
              <a:buChar char="•"/>
            </a:pPr>
            <a:r>
              <a:rPr lang="en-IN" sz="1400" dirty="0"/>
              <a:t>Learn data cleaning, wrangling and preprocessing </a:t>
            </a:r>
          </a:p>
          <a:p>
            <a:pPr marL="285750" lvl="0" indent="-285750" algn="just">
              <a:buFont typeface="Arial" panose="020B0604020202020204" pitchFamily="34" charset="0"/>
              <a:buChar char="•"/>
            </a:pPr>
            <a:r>
              <a:rPr lang="en-IN" sz="1400" dirty="0"/>
              <a:t>Perform/learn Exploratory Data Analysis (EDA)</a:t>
            </a:r>
          </a:p>
          <a:p>
            <a:pPr>
              <a:spcAft>
                <a:spcPts val="600"/>
              </a:spcAft>
              <a:buSzPct val="100000"/>
            </a:pPr>
            <a:endParaRPr lang="en-US" sz="1300" dirty="0"/>
          </a:p>
        </p:txBody>
      </p:sp>
      <p:sp>
        <p:nvSpPr>
          <p:cNvPr id="32" name="Text 27"/>
          <p:cNvSpPr/>
          <p:nvPr/>
        </p:nvSpPr>
        <p:spPr>
          <a:xfrm>
            <a:off x="6035040" y="4892040"/>
            <a:ext cx="5212080" cy="1371600"/>
          </a:xfrm>
          <a:prstGeom prst="rect">
            <a:avLst/>
          </a:prstGeom>
          <a:noFill/>
          <a:ln/>
        </p:spPr>
        <p:txBody>
          <a:bodyPr wrap="square" rtlCol="0" anchor="t"/>
          <a:lstStyle/>
          <a:p>
            <a:pPr marL="285750" lvl="0" indent="-285750">
              <a:buFont typeface="Arial" panose="020B0604020202020204" pitchFamily="34" charset="0"/>
              <a:buChar char="•"/>
            </a:pPr>
            <a:r>
              <a:rPr lang="en-IN" sz="1400" dirty="0"/>
              <a:t>Study predictive analytics and machine learning </a:t>
            </a:r>
          </a:p>
          <a:p>
            <a:pPr marL="285750" lvl="0" indent="-285750">
              <a:buFont typeface="Arial" panose="020B0604020202020204" pitchFamily="34" charset="0"/>
              <a:buChar char="•"/>
            </a:pPr>
            <a:r>
              <a:rPr lang="en-IN" sz="1400" dirty="0"/>
              <a:t>Explore visualization and AI-driven insights </a:t>
            </a:r>
          </a:p>
          <a:p>
            <a:pPr marL="285750" lvl="0" indent="-285750">
              <a:buFont typeface="Arial" panose="020B0604020202020204" pitchFamily="34" charset="0"/>
              <a:buChar char="•"/>
            </a:pPr>
            <a:r>
              <a:rPr lang="en-IN" sz="1400" dirty="0"/>
              <a:t>Develop and submit the final project </a:t>
            </a:r>
          </a:p>
          <a:p>
            <a:pPr marL="285750" lvl="0" indent="-285750">
              <a:buFont typeface="Arial" panose="020B0604020202020204" pitchFamily="34" charset="0"/>
              <a:buChar char="•"/>
            </a:pPr>
            <a:r>
              <a:rPr lang="en-IN" sz="1400" dirty="0"/>
              <a:t>Prepare and present the project</a:t>
            </a:r>
          </a:p>
          <a:p>
            <a:pPr marL="342900" indent="-342900">
              <a:spcAft>
                <a:spcPts val="600"/>
              </a:spcAft>
              <a:buSzPct val="100000"/>
              <a:buChar char="▪"/>
            </a:pPr>
            <a:endParaRPr lang="en-US" sz="1300" dirty="0"/>
          </a:p>
        </p:txBody>
      </p:sp>
      <p:sp>
        <p:nvSpPr>
          <p:cNvPr id="33" name="Text 2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04  ·  GOALS</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Internship Objectives</a:t>
            </a:r>
            <a:endParaRPr lang="en-US" sz="3200" dirty="0"/>
          </a:p>
        </p:txBody>
      </p:sp>
      <p:sp>
        <p:nvSpPr>
          <p:cNvPr id="4" name="Text 2"/>
          <p:cNvSpPr/>
          <p:nvPr/>
        </p:nvSpPr>
        <p:spPr>
          <a:xfrm>
            <a:off x="548640" y="1234440"/>
            <a:ext cx="7315200" cy="365760"/>
          </a:xfrm>
          <a:prstGeom prst="rect">
            <a:avLst/>
          </a:prstGeom>
          <a:noFill/>
          <a:ln/>
        </p:spPr>
        <p:txBody>
          <a:bodyPr wrap="square" rtlCol="0" anchor="ctr"/>
          <a:lstStyle/>
          <a:p>
            <a:pPr marL="0" indent="0">
              <a:buNone/>
            </a:pPr>
            <a:r>
              <a:rPr lang="en-US" sz="1350" i="1" dirty="0">
                <a:solidFill>
                  <a:srgbClr val="445068"/>
                </a:solidFill>
                <a:latin typeface="Calibri" pitchFamily="34" charset="0"/>
                <a:ea typeface="Calibri" pitchFamily="34" charset="-122"/>
                <a:cs typeface="Calibri" pitchFamily="34" charset="-120"/>
              </a:rPr>
              <a:t>The major objectives of my internship</a:t>
            </a:r>
            <a:endParaRPr lang="en-US" sz="1350" dirty="0"/>
          </a:p>
        </p:txBody>
      </p:sp>
      <p:sp>
        <p:nvSpPr>
          <p:cNvPr id="5" name="Shape 3"/>
          <p:cNvSpPr/>
          <p:nvPr/>
        </p:nvSpPr>
        <p:spPr>
          <a:xfrm>
            <a:off x="548640" y="1783080"/>
            <a:ext cx="5440680" cy="1051560"/>
          </a:xfrm>
          <a:prstGeom prst="roundRect">
            <a:avLst>
              <a:gd name="adj" fmla="val 7826"/>
            </a:avLst>
          </a:prstGeom>
          <a:solidFill>
            <a:srgbClr val="FFFFFF"/>
          </a:solidFill>
          <a:ln w="12700">
            <a:solidFill>
              <a:srgbClr val="CADCFC"/>
            </a:solidFill>
            <a:prstDash val="solid"/>
          </a:ln>
        </p:spPr>
      </p:sp>
      <p:sp>
        <p:nvSpPr>
          <p:cNvPr id="6" name="Shape 4"/>
          <p:cNvSpPr/>
          <p:nvPr/>
        </p:nvSpPr>
        <p:spPr>
          <a:xfrm>
            <a:off x="749808" y="2057400"/>
            <a:ext cx="502920" cy="502920"/>
          </a:xfrm>
          <a:prstGeom prst="ellipse">
            <a:avLst/>
          </a:prstGeom>
          <a:solidFill>
            <a:srgbClr val="1E2761"/>
          </a:solidFill>
          <a:ln/>
        </p:spPr>
      </p:sp>
      <p:pic>
        <p:nvPicPr>
          <p:cNvPr id="7" name="Image 0" descr="/home/claude/pptx_work/icons/bullseye.png"/>
          <p:cNvPicPr>
            <a:picLocks noChangeAspect="1"/>
          </p:cNvPicPr>
          <p:nvPr/>
        </p:nvPicPr>
        <p:blipFill>
          <a:blip r:embed="rId3"/>
          <a:stretch>
            <a:fillRect/>
          </a:stretch>
        </p:blipFill>
        <p:spPr>
          <a:xfrm>
            <a:off x="862965" y="2170557"/>
            <a:ext cx="276606" cy="276606"/>
          </a:xfrm>
          <a:prstGeom prst="rect">
            <a:avLst/>
          </a:prstGeom>
        </p:spPr>
      </p:pic>
      <p:sp>
        <p:nvSpPr>
          <p:cNvPr id="8" name="Text 5"/>
          <p:cNvSpPr/>
          <p:nvPr/>
        </p:nvSpPr>
        <p:spPr>
          <a:xfrm>
            <a:off x="1417320" y="1856232"/>
            <a:ext cx="4389120" cy="905256"/>
          </a:xfrm>
          <a:prstGeom prst="rect">
            <a:avLst/>
          </a:prstGeom>
          <a:noFill/>
          <a:ln/>
        </p:spPr>
        <p:txBody>
          <a:bodyPr wrap="square" rtlCol="0" anchor="ctr"/>
          <a:lstStyle/>
          <a:p>
            <a:pPr algn="just"/>
            <a:r>
              <a:rPr lang="en-US" sz="1200" dirty="0">
                <a:solidFill>
                  <a:srgbClr val="445068"/>
                </a:solidFill>
                <a:latin typeface="Calibri" pitchFamily="34" charset="0"/>
                <a:ea typeface="Calibri" pitchFamily="34" charset="-122"/>
                <a:cs typeface="Calibri" pitchFamily="34" charset="-120"/>
              </a:rPr>
              <a:t>1.</a:t>
            </a:r>
            <a:r>
              <a:rPr lang="en-US" sz="1200" dirty="0"/>
              <a:t> </a:t>
            </a:r>
            <a:r>
              <a:rPr lang="en-IN" sz="1200" dirty="0"/>
              <a:t>Gain practical knowledge of Data Analytics and AI</a:t>
            </a:r>
            <a:endParaRPr lang="en-US" sz="1200" dirty="0"/>
          </a:p>
        </p:txBody>
      </p:sp>
      <p:sp>
        <p:nvSpPr>
          <p:cNvPr id="9" name="Shape 6"/>
          <p:cNvSpPr/>
          <p:nvPr/>
        </p:nvSpPr>
        <p:spPr>
          <a:xfrm>
            <a:off x="6309360" y="1783080"/>
            <a:ext cx="5440680" cy="1051560"/>
          </a:xfrm>
          <a:prstGeom prst="roundRect">
            <a:avLst>
              <a:gd name="adj" fmla="val 7826"/>
            </a:avLst>
          </a:prstGeom>
          <a:solidFill>
            <a:srgbClr val="FFFFFF"/>
          </a:solidFill>
          <a:ln w="12700">
            <a:solidFill>
              <a:srgbClr val="CADCFC"/>
            </a:solidFill>
            <a:prstDash val="solid"/>
          </a:ln>
        </p:spPr>
      </p:sp>
      <p:sp>
        <p:nvSpPr>
          <p:cNvPr id="10" name="Shape 7"/>
          <p:cNvSpPr/>
          <p:nvPr/>
        </p:nvSpPr>
        <p:spPr>
          <a:xfrm>
            <a:off x="6510528" y="2057400"/>
            <a:ext cx="502920" cy="502920"/>
          </a:xfrm>
          <a:prstGeom prst="ellipse">
            <a:avLst/>
          </a:prstGeom>
          <a:solidFill>
            <a:srgbClr val="1E2761"/>
          </a:solidFill>
          <a:ln/>
        </p:spPr>
      </p:sp>
      <p:pic>
        <p:nvPicPr>
          <p:cNvPr id="11" name="Image 1" descr="/home/claude/pptx_work/icons/search.png"/>
          <p:cNvPicPr>
            <a:picLocks noChangeAspect="1"/>
          </p:cNvPicPr>
          <p:nvPr/>
        </p:nvPicPr>
        <p:blipFill>
          <a:blip r:embed="rId4"/>
          <a:stretch>
            <a:fillRect/>
          </a:stretch>
        </p:blipFill>
        <p:spPr>
          <a:xfrm>
            <a:off x="6623685" y="2170557"/>
            <a:ext cx="276606" cy="276606"/>
          </a:xfrm>
          <a:prstGeom prst="rect">
            <a:avLst/>
          </a:prstGeom>
        </p:spPr>
      </p:pic>
      <p:sp>
        <p:nvSpPr>
          <p:cNvPr id="12" name="Text 8"/>
          <p:cNvSpPr/>
          <p:nvPr/>
        </p:nvSpPr>
        <p:spPr>
          <a:xfrm>
            <a:off x="7178040" y="1856232"/>
            <a:ext cx="4389120" cy="905256"/>
          </a:xfrm>
          <a:prstGeom prst="rect">
            <a:avLst/>
          </a:prstGeom>
          <a:noFill/>
          <a:ln/>
        </p:spPr>
        <p:txBody>
          <a:bodyPr wrap="square" rtlCol="0" anchor="ctr"/>
          <a:lstStyle/>
          <a:p>
            <a:r>
              <a:rPr lang="en-US" sz="1200" dirty="0">
                <a:solidFill>
                  <a:srgbClr val="445068"/>
                </a:solidFill>
                <a:latin typeface="Calibri" pitchFamily="34" charset="0"/>
                <a:ea typeface="Calibri" pitchFamily="34" charset="-122"/>
                <a:cs typeface="Calibri" pitchFamily="34" charset="-120"/>
              </a:rPr>
              <a:t>2. </a:t>
            </a:r>
            <a:r>
              <a:rPr lang="en-IN" sz="1200" b="1" dirty="0"/>
              <a:t>Understand the complete data analytics workflow</a:t>
            </a:r>
            <a:r>
              <a:rPr lang="en-IN" sz="1200" dirty="0"/>
              <a:t>, from data collection and cleaning to analysis and insights</a:t>
            </a:r>
            <a:endParaRPr lang="en-US" sz="1200" dirty="0"/>
          </a:p>
        </p:txBody>
      </p:sp>
      <p:sp>
        <p:nvSpPr>
          <p:cNvPr id="13" name="Shape 9"/>
          <p:cNvSpPr/>
          <p:nvPr/>
        </p:nvSpPr>
        <p:spPr>
          <a:xfrm>
            <a:off x="548640" y="3017520"/>
            <a:ext cx="5440680" cy="1051560"/>
          </a:xfrm>
          <a:prstGeom prst="roundRect">
            <a:avLst>
              <a:gd name="adj" fmla="val 7826"/>
            </a:avLst>
          </a:prstGeom>
          <a:solidFill>
            <a:srgbClr val="FFFFFF"/>
          </a:solidFill>
          <a:ln w="12700">
            <a:solidFill>
              <a:srgbClr val="CADCFC"/>
            </a:solidFill>
            <a:prstDash val="solid"/>
          </a:ln>
        </p:spPr>
      </p:sp>
      <p:sp>
        <p:nvSpPr>
          <p:cNvPr id="14" name="Shape 10"/>
          <p:cNvSpPr/>
          <p:nvPr/>
        </p:nvSpPr>
        <p:spPr>
          <a:xfrm>
            <a:off x="749808" y="3291840"/>
            <a:ext cx="502920" cy="502920"/>
          </a:xfrm>
          <a:prstGeom prst="ellipse">
            <a:avLst/>
          </a:prstGeom>
          <a:solidFill>
            <a:srgbClr val="1E2761"/>
          </a:solidFill>
          <a:ln/>
        </p:spPr>
      </p:sp>
      <p:pic>
        <p:nvPicPr>
          <p:cNvPr id="15" name="Image 2" descr="/home/claude/pptx_work/icons/mobile-alt.png"/>
          <p:cNvPicPr>
            <a:picLocks noChangeAspect="1"/>
          </p:cNvPicPr>
          <p:nvPr/>
        </p:nvPicPr>
        <p:blipFill>
          <a:blip r:embed="rId5"/>
          <a:stretch>
            <a:fillRect/>
          </a:stretch>
        </p:blipFill>
        <p:spPr>
          <a:xfrm>
            <a:off x="862965" y="3404997"/>
            <a:ext cx="276606" cy="276606"/>
          </a:xfrm>
          <a:prstGeom prst="rect">
            <a:avLst/>
          </a:prstGeom>
        </p:spPr>
      </p:pic>
      <p:sp>
        <p:nvSpPr>
          <p:cNvPr id="16" name="Text 11"/>
          <p:cNvSpPr/>
          <p:nvPr/>
        </p:nvSpPr>
        <p:spPr>
          <a:xfrm>
            <a:off x="1417320" y="3090672"/>
            <a:ext cx="4389120" cy="905256"/>
          </a:xfrm>
          <a:prstGeom prst="rect">
            <a:avLst/>
          </a:prstGeom>
          <a:noFill/>
          <a:ln/>
        </p:spPr>
        <p:txBody>
          <a:bodyPr wrap="square" rtlCol="0" anchor="ctr"/>
          <a:lstStyle/>
          <a:p>
            <a:r>
              <a:rPr lang="en-US" sz="1200" dirty="0">
                <a:solidFill>
                  <a:srgbClr val="445068"/>
                </a:solidFill>
                <a:latin typeface="Calibri" pitchFamily="34" charset="0"/>
                <a:ea typeface="Calibri" pitchFamily="34" charset="-122"/>
                <a:cs typeface="Calibri" pitchFamily="34" charset="-120"/>
              </a:rPr>
              <a:t>3.</a:t>
            </a:r>
            <a:r>
              <a:rPr lang="en-IN" sz="1200" dirty="0"/>
              <a:t> Learn data cleaning, wrangling, and preprocessing techniques</a:t>
            </a:r>
            <a:endParaRPr lang="en-US" sz="1200" dirty="0"/>
          </a:p>
        </p:txBody>
      </p:sp>
      <p:sp>
        <p:nvSpPr>
          <p:cNvPr id="17" name="Shape 12"/>
          <p:cNvSpPr/>
          <p:nvPr/>
        </p:nvSpPr>
        <p:spPr>
          <a:xfrm>
            <a:off x="6309360" y="3017520"/>
            <a:ext cx="5440680" cy="1051560"/>
          </a:xfrm>
          <a:prstGeom prst="roundRect">
            <a:avLst>
              <a:gd name="adj" fmla="val 7826"/>
            </a:avLst>
          </a:prstGeom>
          <a:solidFill>
            <a:srgbClr val="FFFFFF"/>
          </a:solidFill>
          <a:ln w="12700">
            <a:solidFill>
              <a:srgbClr val="CADCFC"/>
            </a:solidFill>
            <a:prstDash val="solid"/>
          </a:ln>
        </p:spPr>
      </p:sp>
      <p:sp>
        <p:nvSpPr>
          <p:cNvPr id="18" name="Shape 13"/>
          <p:cNvSpPr/>
          <p:nvPr/>
        </p:nvSpPr>
        <p:spPr>
          <a:xfrm>
            <a:off x="6510528" y="3291840"/>
            <a:ext cx="502920" cy="502920"/>
          </a:xfrm>
          <a:prstGeom prst="ellipse">
            <a:avLst/>
          </a:prstGeom>
          <a:solidFill>
            <a:srgbClr val="1E2761"/>
          </a:solidFill>
          <a:ln/>
        </p:spPr>
      </p:sp>
      <p:pic>
        <p:nvPicPr>
          <p:cNvPr id="19" name="Image 3" descr="/home/claude/pptx_work/icons/bolt.png"/>
          <p:cNvPicPr>
            <a:picLocks noChangeAspect="1"/>
          </p:cNvPicPr>
          <p:nvPr/>
        </p:nvPicPr>
        <p:blipFill>
          <a:blip r:embed="rId6"/>
          <a:stretch>
            <a:fillRect/>
          </a:stretch>
        </p:blipFill>
        <p:spPr>
          <a:xfrm>
            <a:off x="6623685" y="3404997"/>
            <a:ext cx="276606" cy="276606"/>
          </a:xfrm>
          <a:prstGeom prst="rect">
            <a:avLst/>
          </a:prstGeom>
        </p:spPr>
      </p:pic>
      <p:sp>
        <p:nvSpPr>
          <p:cNvPr id="20" name="Text 14"/>
          <p:cNvSpPr/>
          <p:nvPr/>
        </p:nvSpPr>
        <p:spPr>
          <a:xfrm>
            <a:off x="7178040" y="3090672"/>
            <a:ext cx="4389120" cy="905256"/>
          </a:xfrm>
          <a:prstGeom prst="rect">
            <a:avLst/>
          </a:prstGeom>
          <a:noFill/>
          <a:ln/>
        </p:spPr>
        <p:txBody>
          <a:bodyPr wrap="square" rtlCol="0" anchor="ctr"/>
          <a:lstStyle/>
          <a:p>
            <a:r>
              <a:rPr lang="en-US" sz="1200" dirty="0">
                <a:solidFill>
                  <a:srgbClr val="445068"/>
                </a:solidFill>
                <a:latin typeface="Calibri" pitchFamily="34" charset="0"/>
                <a:ea typeface="Calibri" pitchFamily="34" charset="-122"/>
                <a:cs typeface="Calibri" pitchFamily="34" charset="-120"/>
              </a:rPr>
              <a:t>4. </a:t>
            </a:r>
            <a:r>
              <a:rPr lang="en-IN" sz="1200" dirty="0"/>
              <a:t>Develop an understanding of Exploratory Data Analysis (EDA)</a:t>
            </a:r>
            <a:endParaRPr lang="en-US" sz="1200" dirty="0"/>
          </a:p>
        </p:txBody>
      </p:sp>
      <p:sp>
        <p:nvSpPr>
          <p:cNvPr id="21" name="Shape 15"/>
          <p:cNvSpPr/>
          <p:nvPr/>
        </p:nvSpPr>
        <p:spPr>
          <a:xfrm>
            <a:off x="548640" y="4270248"/>
            <a:ext cx="5440680" cy="1051560"/>
          </a:xfrm>
          <a:prstGeom prst="roundRect">
            <a:avLst>
              <a:gd name="adj" fmla="val 7826"/>
            </a:avLst>
          </a:prstGeom>
          <a:solidFill>
            <a:srgbClr val="FFFFFF"/>
          </a:solidFill>
          <a:ln w="12700">
            <a:solidFill>
              <a:srgbClr val="CADCFC"/>
            </a:solidFill>
            <a:prstDash val="solid"/>
          </a:ln>
        </p:spPr>
      </p:sp>
      <p:sp>
        <p:nvSpPr>
          <p:cNvPr id="22" name="Shape 16"/>
          <p:cNvSpPr/>
          <p:nvPr/>
        </p:nvSpPr>
        <p:spPr>
          <a:xfrm>
            <a:off x="749808" y="4526280"/>
            <a:ext cx="502920" cy="502920"/>
          </a:xfrm>
          <a:prstGeom prst="ellipse">
            <a:avLst/>
          </a:prstGeom>
          <a:solidFill>
            <a:srgbClr val="1E2761"/>
          </a:solidFill>
          <a:ln/>
        </p:spPr>
      </p:sp>
      <p:pic>
        <p:nvPicPr>
          <p:cNvPr id="23" name="Image 4" descr="/home/claude/pptx_work/icons/layer-group.png"/>
          <p:cNvPicPr>
            <a:picLocks noChangeAspect="1"/>
          </p:cNvPicPr>
          <p:nvPr/>
        </p:nvPicPr>
        <p:blipFill>
          <a:blip r:embed="rId7"/>
          <a:stretch>
            <a:fillRect/>
          </a:stretch>
        </p:blipFill>
        <p:spPr>
          <a:xfrm>
            <a:off x="862965" y="4639437"/>
            <a:ext cx="276606" cy="276606"/>
          </a:xfrm>
          <a:prstGeom prst="rect">
            <a:avLst/>
          </a:prstGeom>
        </p:spPr>
      </p:pic>
      <p:sp>
        <p:nvSpPr>
          <p:cNvPr id="24" name="Text 17"/>
          <p:cNvSpPr/>
          <p:nvPr/>
        </p:nvSpPr>
        <p:spPr>
          <a:xfrm>
            <a:off x="1417320" y="4325112"/>
            <a:ext cx="4389120" cy="905256"/>
          </a:xfrm>
          <a:prstGeom prst="rect">
            <a:avLst/>
          </a:prstGeom>
          <a:noFill/>
          <a:ln/>
        </p:spPr>
        <p:txBody>
          <a:bodyPr wrap="square" rtlCol="0" anchor="ctr"/>
          <a:lstStyle/>
          <a:p>
            <a:r>
              <a:rPr lang="en-US" sz="1200" dirty="0">
                <a:solidFill>
                  <a:srgbClr val="445068"/>
                </a:solidFill>
                <a:latin typeface="Calibri" pitchFamily="34" charset="0"/>
                <a:ea typeface="Calibri" pitchFamily="34" charset="-122"/>
                <a:cs typeface="Calibri" pitchFamily="34" charset="-120"/>
              </a:rPr>
              <a:t>5. </a:t>
            </a:r>
            <a:r>
              <a:rPr lang="en-IN" sz="1200" dirty="0"/>
              <a:t>Learn predictive analytics and basic machine learning concepts</a:t>
            </a:r>
            <a:endParaRPr lang="en-US" sz="1200" dirty="0"/>
          </a:p>
        </p:txBody>
      </p:sp>
      <p:sp>
        <p:nvSpPr>
          <p:cNvPr id="25" name="Shape 18"/>
          <p:cNvSpPr/>
          <p:nvPr/>
        </p:nvSpPr>
        <p:spPr>
          <a:xfrm>
            <a:off x="6309360" y="4251960"/>
            <a:ext cx="5440680" cy="1051560"/>
          </a:xfrm>
          <a:prstGeom prst="roundRect">
            <a:avLst>
              <a:gd name="adj" fmla="val 7826"/>
            </a:avLst>
          </a:prstGeom>
          <a:solidFill>
            <a:srgbClr val="FFFFFF"/>
          </a:solidFill>
          <a:ln w="12700">
            <a:solidFill>
              <a:srgbClr val="CADCFC"/>
            </a:solidFill>
            <a:prstDash val="solid"/>
          </a:ln>
        </p:spPr>
      </p:sp>
      <p:sp>
        <p:nvSpPr>
          <p:cNvPr id="26" name="Shape 19"/>
          <p:cNvSpPr/>
          <p:nvPr/>
        </p:nvSpPr>
        <p:spPr>
          <a:xfrm>
            <a:off x="6510528" y="4526280"/>
            <a:ext cx="502920" cy="502920"/>
          </a:xfrm>
          <a:prstGeom prst="ellipse">
            <a:avLst/>
          </a:prstGeom>
          <a:solidFill>
            <a:srgbClr val="1E2761"/>
          </a:solidFill>
          <a:ln/>
        </p:spPr>
      </p:sp>
      <p:pic>
        <p:nvPicPr>
          <p:cNvPr id="27" name="Image 5" descr="/home/claude/pptx_work/icons/bug.png"/>
          <p:cNvPicPr>
            <a:picLocks noChangeAspect="1"/>
          </p:cNvPicPr>
          <p:nvPr/>
        </p:nvPicPr>
        <p:blipFill>
          <a:blip r:embed="rId8"/>
          <a:stretch>
            <a:fillRect/>
          </a:stretch>
        </p:blipFill>
        <p:spPr>
          <a:xfrm>
            <a:off x="6623685" y="4639437"/>
            <a:ext cx="276606" cy="276606"/>
          </a:xfrm>
          <a:prstGeom prst="rect">
            <a:avLst/>
          </a:prstGeom>
        </p:spPr>
      </p:pic>
      <p:sp>
        <p:nvSpPr>
          <p:cNvPr id="28" name="Text 20"/>
          <p:cNvSpPr/>
          <p:nvPr/>
        </p:nvSpPr>
        <p:spPr>
          <a:xfrm>
            <a:off x="7178040" y="4325112"/>
            <a:ext cx="4389120" cy="905256"/>
          </a:xfrm>
          <a:prstGeom prst="rect">
            <a:avLst/>
          </a:prstGeom>
          <a:noFill/>
          <a:ln/>
        </p:spPr>
        <p:txBody>
          <a:bodyPr wrap="square" rtlCol="0" anchor="ctr"/>
          <a:lstStyle/>
          <a:p>
            <a:r>
              <a:rPr lang="en-US" sz="1200" dirty="0">
                <a:solidFill>
                  <a:srgbClr val="445068"/>
                </a:solidFill>
                <a:latin typeface="Calibri" pitchFamily="34" charset="0"/>
                <a:ea typeface="Calibri" pitchFamily="34" charset="-122"/>
                <a:cs typeface="Calibri" pitchFamily="34" charset="-120"/>
              </a:rPr>
              <a:t>6. </a:t>
            </a:r>
            <a:r>
              <a:rPr lang="en-IN" sz="1200" dirty="0"/>
              <a:t>Understand data visualization and AI-driven insights</a:t>
            </a:r>
            <a:r>
              <a:rPr lang="en-US" sz="1200" dirty="0">
                <a:solidFill>
                  <a:srgbClr val="445068"/>
                </a:solidFill>
                <a:latin typeface="Calibri" pitchFamily="34" charset="0"/>
                <a:ea typeface="Calibri" pitchFamily="34" charset="-122"/>
                <a:cs typeface="Calibri" pitchFamily="34" charset="-120"/>
              </a:rPr>
              <a:t> </a:t>
            </a:r>
            <a:endParaRPr lang="en-US" sz="1200" dirty="0"/>
          </a:p>
        </p:txBody>
      </p:sp>
      <p:sp>
        <p:nvSpPr>
          <p:cNvPr id="29" name="Shape 21"/>
          <p:cNvSpPr/>
          <p:nvPr/>
        </p:nvSpPr>
        <p:spPr>
          <a:xfrm>
            <a:off x="548640" y="5486400"/>
            <a:ext cx="5440680" cy="1051560"/>
          </a:xfrm>
          <a:prstGeom prst="roundRect">
            <a:avLst>
              <a:gd name="adj" fmla="val 7826"/>
            </a:avLst>
          </a:prstGeom>
          <a:solidFill>
            <a:srgbClr val="FFFFFF"/>
          </a:solidFill>
          <a:ln w="12700">
            <a:solidFill>
              <a:srgbClr val="CADCFC"/>
            </a:solidFill>
            <a:prstDash val="solid"/>
          </a:ln>
        </p:spPr>
      </p:sp>
      <p:sp>
        <p:nvSpPr>
          <p:cNvPr id="30" name="Shape 22"/>
          <p:cNvSpPr/>
          <p:nvPr/>
        </p:nvSpPr>
        <p:spPr>
          <a:xfrm>
            <a:off x="749808" y="5760720"/>
            <a:ext cx="502920" cy="502920"/>
          </a:xfrm>
          <a:prstGeom prst="ellipse">
            <a:avLst/>
          </a:prstGeom>
          <a:solidFill>
            <a:srgbClr val="1E2761"/>
          </a:solidFill>
          <a:ln/>
        </p:spPr>
      </p:sp>
      <p:pic>
        <p:nvPicPr>
          <p:cNvPr id="31" name="Image 6" descr="/home/claude/pptx_work/icons/briefcase.png"/>
          <p:cNvPicPr>
            <a:picLocks noChangeAspect="1"/>
          </p:cNvPicPr>
          <p:nvPr/>
        </p:nvPicPr>
        <p:blipFill>
          <a:blip r:embed="rId9"/>
          <a:stretch>
            <a:fillRect/>
          </a:stretch>
        </p:blipFill>
        <p:spPr>
          <a:xfrm>
            <a:off x="862965" y="5873877"/>
            <a:ext cx="276606" cy="276606"/>
          </a:xfrm>
          <a:prstGeom prst="rect">
            <a:avLst/>
          </a:prstGeom>
        </p:spPr>
      </p:pic>
      <p:sp>
        <p:nvSpPr>
          <p:cNvPr id="32" name="Text 23"/>
          <p:cNvSpPr/>
          <p:nvPr/>
        </p:nvSpPr>
        <p:spPr>
          <a:xfrm>
            <a:off x="1417320" y="5559552"/>
            <a:ext cx="4389120" cy="905256"/>
          </a:xfrm>
          <a:prstGeom prst="rect">
            <a:avLst/>
          </a:prstGeom>
          <a:noFill/>
          <a:ln/>
        </p:spPr>
        <p:txBody>
          <a:bodyPr wrap="square" rtlCol="0" anchor="ctr"/>
          <a:lstStyle/>
          <a:p>
            <a:r>
              <a:rPr lang="en-US" sz="1200" dirty="0">
                <a:solidFill>
                  <a:srgbClr val="445068"/>
                </a:solidFill>
                <a:latin typeface="Calibri" pitchFamily="34" charset="0"/>
                <a:ea typeface="Calibri" pitchFamily="34" charset="-122"/>
                <a:cs typeface="Calibri" pitchFamily="34" charset="-120"/>
              </a:rPr>
              <a:t>7. </a:t>
            </a:r>
            <a:r>
              <a:rPr lang="en-IN" sz="1200" dirty="0"/>
              <a:t>Improve problem-solving, analytical thinking, and professional skill</a:t>
            </a:r>
            <a:endParaRPr lang="en-US" sz="1200" dirty="0"/>
          </a:p>
        </p:txBody>
      </p:sp>
      <p:sp>
        <p:nvSpPr>
          <p:cNvPr id="33" name="Text 2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05  ·  TECH STACK</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Technologies &amp; Tools Used</a:t>
            </a:r>
            <a:endParaRPr lang="en-US" sz="3200" dirty="0"/>
          </a:p>
        </p:txBody>
      </p:sp>
      <p:sp>
        <p:nvSpPr>
          <p:cNvPr id="4" name="Text 2"/>
          <p:cNvSpPr/>
          <p:nvPr/>
        </p:nvSpPr>
        <p:spPr>
          <a:xfrm>
            <a:off x="548640" y="1417320"/>
            <a:ext cx="5486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FRONTEND TECHNOLOGIES</a:t>
            </a:r>
            <a:endParaRPr lang="en-US" sz="1200" dirty="0"/>
          </a:p>
        </p:txBody>
      </p:sp>
      <p:sp>
        <p:nvSpPr>
          <p:cNvPr id="5" name="Shape 3"/>
          <p:cNvSpPr/>
          <p:nvPr/>
        </p:nvSpPr>
        <p:spPr>
          <a:xfrm>
            <a:off x="548640" y="1783080"/>
            <a:ext cx="2606040" cy="1234440"/>
          </a:xfrm>
          <a:prstGeom prst="roundRect">
            <a:avLst>
              <a:gd name="adj" fmla="val 7407"/>
            </a:avLst>
          </a:prstGeom>
          <a:solidFill>
            <a:srgbClr val="FFFFFF"/>
          </a:solidFill>
          <a:ln w="12700">
            <a:solidFill>
              <a:srgbClr val="CADCFC"/>
            </a:solidFill>
            <a:prstDash val="solid"/>
          </a:ln>
        </p:spPr>
      </p:sp>
      <p:sp>
        <p:nvSpPr>
          <p:cNvPr id="6" name="Shape 4"/>
          <p:cNvSpPr/>
          <p:nvPr/>
        </p:nvSpPr>
        <p:spPr>
          <a:xfrm>
            <a:off x="1531620" y="1947672"/>
            <a:ext cx="640080" cy="640080"/>
          </a:xfrm>
          <a:prstGeom prst="ellipse">
            <a:avLst/>
          </a:prstGeom>
          <a:solidFill>
            <a:srgbClr val="1E2761"/>
          </a:solidFill>
          <a:ln/>
        </p:spPr>
      </p:sp>
      <p:pic>
        <p:nvPicPr>
          <p:cNvPr id="7" name="Image 0" descr="/home/claude/pptx_work/icons/html5.png"/>
          <p:cNvPicPr>
            <a:picLocks noChangeAspect="1"/>
          </p:cNvPicPr>
          <p:nvPr/>
        </p:nvPicPr>
        <p:blipFill>
          <a:blip r:embed="rId3"/>
          <a:stretch>
            <a:fillRect/>
          </a:stretch>
        </p:blipFill>
        <p:spPr>
          <a:xfrm>
            <a:off x="1675638" y="2091690"/>
            <a:ext cx="352044" cy="352044"/>
          </a:xfrm>
          <a:prstGeom prst="rect">
            <a:avLst/>
          </a:prstGeom>
        </p:spPr>
      </p:pic>
      <p:sp>
        <p:nvSpPr>
          <p:cNvPr id="8" name="Text 5"/>
          <p:cNvSpPr/>
          <p:nvPr/>
        </p:nvSpPr>
        <p:spPr>
          <a:xfrm>
            <a:off x="548640" y="262432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HTML</a:t>
            </a:r>
            <a:endParaRPr lang="en-US" sz="1250" dirty="0"/>
          </a:p>
        </p:txBody>
      </p:sp>
      <p:sp>
        <p:nvSpPr>
          <p:cNvPr id="9" name="Shape 6"/>
          <p:cNvSpPr/>
          <p:nvPr/>
        </p:nvSpPr>
        <p:spPr>
          <a:xfrm>
            <a:off x="3337560" y="1783080"/>
            <a:ext cx="2606040" cy="1234440"/>
          </a:xfrm>
          <a:prstGeom prst="roundRect">
            <a:avLst>
              <a:gd name="adj" fmla="val 7407"/>
            </a:avLst>
          </a:prstGeom>
          <a:solidFill>
            <a:srgbClr val="FFFFFF"/>
          </a:solidFill>
          <a:ln w="12700">
            <a:solidFill>
              <a:srgbClr val="CADCFC"/>
            </a:solidFill>
            <a:prstDash val="solid"/>
          </a:ln>
        </p:spPr>
      </p:sp>
      <p:sp>
        <p:nvSpPr>
          <p:cNvPr id="10" name="Shape 7"/>
          <p:cNvSpPr/>
          <p:nvPr/>
        </p:nvSpPr>
        <p:spPr>
          <a:xfrm>
            <a:off x="4320540" y="1947672"/>
            <a:ext cx="640080" cy="640080"/>
          </a:xfrm>
          <a:prstGeom prst="ellipse">
            <a:avLst/>
          </a:prstGeom>
          <a:solidFill>
            <a:srgbClr val="1E2761"/>
          </a:solidFill>
          <a:ln/>
        </p:spPr>
      </p:sp>
      <p:pic>
        <p:nvPicPr>
          <p:cNvPr id="11" name="Image 1" descr="/home/claude/pptx_work/icons/css3.png"/>
          <p:cNvPicPr>
            <a:picLocks noChangeAspect="1"/>
          </p:cNvPicPr>
          <p:nvPr/>
        </p:nvPicPr>
        <p:blipFill>
          <a:blip r:embed="rId4"/>
          <a:stretch>
            <a:fillRect/>
          </a:stretch>
        </p:blipFill>
        <p:spPr>
          <a:xfrm>
            <a:off x="4464558" y="2091690"/>
            <a:ext cx="352044" cy="352044"/>
          </a:xfrm>
          <a:prstGeom prst="rect">
            <a:avLst/>
          </a:prstGeom>
        </p:spPr>
      </p:pic>
      <p:sp>
        <p:nvSpPr>
          <p:cNvPr id="12" name="Text 8"/>
          <p:cNvSpPr/>
          <p:nvPr/>
        </p:nvSpPr>
        <p:spPr>
          <a:xfrm>
            <a:off x="3337560" y="262432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CSS</a:t>
            </a:r>
            <a:endParaRPr lang="en-US" sz="1250" dirty="0"/>
          </a:p>
        </p:txBody>
      </p:sp>
      <p:sp>
        <p:nvSpPr>
          <p:cNvPr id="13" name="Shape 9"/>
          <p:cNvSpPr/>
          <p:nvPr/>
        </p:nvSpPr>
        <p:spPr>
          <a:xfrm>
            <a:off x="6126480" y="1783080"/>
            <a:ext cx="2606040" cy="1234440"/>
          </a:xfrm>
          <a:prstGeom prst="roundRect">
            <a:avLst>
              <a:gd name="adj" fmla="val 7407"/>
            </a:avLst>
          </a:prstGeom>
          <a:solidFill>
            <a:srgbClr val="FFFFFF"/>
          </a:solidFill>
          <a:ln w="12700">
            <a:solidFill>
              <a:srgbClr val="CADCFC"/>
            </a:solidFill>
            <a:prstDash val="solid"/>
          </a:ln>
        </p:spPr>
      </p:sp>
      <p:sp>
        <p:nvSpPr>
          <p:cNvPr id="14" name="Shape 10"/>
          <p:cNvSpPr/>
          <p:nvPr/>
        </p:nvSpPr>
        <p:spPr>
          <a:xfrm>
            <a:off x="7109460" y="1947672"/>
            <a:ext cx="640080" cy="640080"/>
          </a:xfrm>
          <a:prstGeom prst="ellipse">
            <a:avLst/>
          </a:prstGeom>
          <a:solidFill>
            <a:srgbClr val="1E2761"/>
          </a:solidFill>
          <a:ln/>
        </p:spPr>
      </p:sp>
      <p:pic>
        <p:nvPicPr>
          <p:cNvPr id="15" name="Image 2" descr="/home/claude/pptx_work/icons/js.png"/>
          <p:cNvPicPr>
            <a:picLocks noChangeAspect="1"/>
          </p:cNvPicPr>
          <p:nvPr/>
        </p:nvPicPr>
        <p:blipFill>
          <a:blip r:embed="rId5"/>
          <a:stretch>
            <a:fillRect/>
          </a:stretch>
        </p:blipFill>
        <p:spPr>
          <a:xfrm>
            <a:off x="7253478" y="2091690"/>
            <a:ext cx="352044" cy="352044"/>
          </a:xfrm>
          <a:prstGeom prst="rect">
            <a:avLst/>
          </a:prstGeom>
        </p:spPr>
      </p:pic>
      <p:sp>
        <p:nvSpPr>
          <p:cNvPr id="16" name="Text 11"/>
          <p:cNvSpPr/>
          <p:nvPr/>
        </p:nvSpPr>
        <p:spPr>
          <a:xfrm>
            <a:off x="6126480" y="262432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JavaScript</a:t>
            </a:r>
            <a:endParaRPr lang="en-US" sz="1250" dirty="0"/>
          </a:p>
        </p:txBody>
      </p:sp>
      <p:sp>
        <p:nvSpPr>
          <p:cNvPr id="17" name="Shape 12"/>
          <p:cNvSpPr/>
          <p:nvPr/>
        </p:nvSpPr>
        <p:spPr>
          <a:xfrm>
            <a:off x="8915400" y="1783080"/>
            <a:ext cx="2606040" cy="1234440"/>
          </a:xfrm>
          <a:prstGeom prst="roundRect">
            <a:avLst>
              <a:gd name="adj" fmla="val 7407"/>
            </a:avLst>
          </a:prstGeom>
          <a:solidFill>
            <a:srgbClr val="FFFFFF"/>
          </a:solidFill>
          <a:ln w="12700">
            <a:solidFill>
              <a:srgbClr val="CADCFC"/>
            </a:solidFill>
            <a:prstDash val="solid"/>
          </a:ln>
        </p:spPr>
      </p:sp>
      <p:sp>
        <p:nvSpPr>
          <p:cNvPr id="18" name="Shape 13"/>
          <p:cNvSpPr/>
          <p:nvPr/>
        </p:nvSpPr>
        <p:spPr>
          <a:xfrm>
            <a:off x="9898380" y="1947672"/>
            <a:ext cx="640080" cy="640080"/>
          </a:xfrm>
          <a:prstGeom prst="ellipse">
            <a:avLst/>
          </a:prstGeom>
          <a:solidFill>
            <a:srgbClr val="1E2761"/>
          </a:solidFill>
          <a:ln/>
        </p:spPr>
      </p:sp>
      <p:pic>
        <p:nvPicPr>
          <p:cNvPr id="19" name="Image 3" descr="/home/claude/pptx_work/icons/react.png"/>
          <p:cNvPicPr>
            <a:picLocks noChangeAspect="1"/>
          </p:cNvPicPr>
          <p:nvPr/>
        </p:nvPicPr>
        <p:blipFill>
          <a:blip r:embed="rId6"/>
          <a:stretch>
            <a:fillRect/>
          </a:stretch>
        </p:blipFill>
        <p:spPr>
          <a:xfrm>
            <a:off x="10042398" y="2091690"/>
            <a:ext cx="352044" cy="352044"/>
          </a:xfrm>
          <a:prstGeom prst="rect">
            <a:avLst/>
          </a:prstGeom>
        </p:spPr>
      </p:pic>
      <p:sp>
        <p:nvSpPr>
          <p:cNvPr id="20" name="Text 14"/>
          <p:cNvSpPr/>
          <p:nvPr/>
        </p:nvSpPr>
        <p:spPr>
          <a:xfrm>
            <a:off x="8915400" y="262432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React.js</a:t>
            </a:r>
            <a:endParaRPr lang="en-US" sz="1250" dirty="0"/>
          </a:p>
        </p:txBody>
      </p:sp>
      <p:sp>
        <p:nvSpPr>
          <p:cNvPr id="21" name="Text 15"/>
          <p:cNvSpPr/>
          <p:nvPr/>
        </p:nvSpPr>
        <p:spPr>
          <a:xfrm>
            <a:off x="548640" y="3429000"/>
            <a:ext cx="5486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DEVELOPMENT TOOLS</a:t>
            </a:r>
            <a:endParaRPr lang="en-US" sz="1200" dirty="0"/>
          </a:p>
        </p:txBody>
      </p:sp>
      <p:sp>
        <p:nvSpPr>
          <p:cNvPr id="22" name="Shape 16"/>
          <p:cNvSpPr/>
          <p:nvPr/>
        </p:nvSpPr>
        <p:spPr>
          <a:xfrm>
            <a:off x="548640" y="3794760"/>
            <a:ext cx="2606040" cy="1234440"/>
          </a:xfrm>
          <a:prstGeom prst="roundRect">
            <a:avLst>
              <a:gd name="adj" fmla="val 7407"/>
            </a:avLst>
          </a:prstGeom>
          <a:solidFill>
            <a:srgbClr val="FFFFFF"/>
          </a:solidFill>
          <a:ln w="12700">
            <a:solidFill>
              <a:srgbClr val="CADCFC"/>
            </a:solidFill>
            <a:prstDash val="solid"/>
          </a:ln>
        </p:spPr>
      </p:sp>
      <p:sp>
        <p:nvSpPr>
          <p:cNvPr id="23" name="Shape 17"/>
          <p:cNvSpPr/>
          <p:nvPr/>
        </p:nvSpPr>
        <p:spPr>
          <a:xfrm>
            <a:off x="1531620" y="3959352"/>
            <a:ext cx="640080" cy="640080"/>
          </a:xfrm>
          <a:prstGeom prst="ellipse">
            <a:avLst/>
          </a:prstGeom>
          <a:solidFill>
            <a:srgbClr val="1E2761"/>
          </a:solidFill>
          <a:ln/>
        </p:spPr>
      </p:sp>
      <p:pic>
        <p:nvPicPr>
          <p:cNvPr id="24" name="Image 4" descr="/home/claude/pptx_work/icons/vscode.png"/>
          <p:cNvPicPr>
            <a:picLocks noChangeAspect="1"/>
          </p:cNvPicPr>
          <p:nvPr/>
        </p:nvPicPr>
        <p:blipFill>
          <a:blip r:embed="rId7"/>
          <a:stretch>
            <a:fillRect/>
          </a:stretch>
        </p:blipFill>
        <p:spPr>
          <a:xfrm>
            <a:off x="1675638" y="4103370"/>
            <a:ext cx="352044" cy="352044"/>
          </a:xfrm>
          <a:prstGeom prst="rect">
            <a:avLst/>
          </a:prstGeom>
        </p:spPr>
      </p:pic>
      <p:sp>
        <p:nvSpPr>
          <p:cNvPr id="25" name="Text 18"/>
          <p:cNvSpPr/>
          <p:nvPr/>
        </p:nvSpPr>
        <p:spPr>
          <a:xfrm>
            <a:off x="548640" y="463600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VS Code</a:t>
            </a:r>
            <a:endParaRPr lang="en-US" sz="1250" dirty="0"/>
          </a:p>
        </p:txBody>
      </p:sp>
      <p:sp>
        <p:nvSpPr>
          <p:cNvPr id="26" name="Shape 19"/>
          <p:cNvSpPr/>
          <p:nvPr/>
        </p:nvSpPr>
        <p:spPr>
          <a:xfrm>
            <a:off x="3337560" y="3794760"/>
            <a:ext cx="2606040" cy="1234440"/>
          </a:xfrm>
          <a:prstGeom prst="roundRect">
            <a:avLst>
              <a:gd name="adj" fmla="val 7407"/>
            </a:avLst>
          </a:prstGeom>
          <a:solidFill>
            <a:srgbClr val="FFFFFF"/>
          </a:solidFill>
          <a:ln w="12700">
            <a:solidFill>
              <a:srgbClr val="CADCFC"/>
            </a:solidFill>
            <a:prstDash val="solid"/>
          </a:ln>
        </p:spPr>
      </p:sp>
      <p:sp>
        <p:nvSpPr>
          <p:cNvPr id="27" name="Shape 20"/>
          <p:cNvSpPr/>
          <p:nvPr/>
        </p:nvSpPr>
        <p:spPr>
          <a:xfrm>
            <a:off x="4320540" y="3959352"/>
            <a:ext cx="640080" cy="640080"/>
          </a:xfrm>
          <a:prstGeom prst="ellipse">
            <a:avLst/>
          </a:prstGeom>
          <a:solidFill>
            <a:srgbClr val="1E2761"/>
          </a:solidFill>
          <a:ln/>
        </p:spPr>
      </p:sp>
      <p:pic>
        <p:nvPicPr>
          <p:cNvPr id="28" name="Image 5" descr="/home/claude/pptx_work/icons/git.png"/>
          <p:cNvPicPr>
            <a:picLocks noChangeAspect="1"/>
          </p:cNvPicPr>
          <p:nvPr/>
        </p:nvPicPr>
        <p:blipFill>
          <a:blip r:embed="rId8"/>
          <a:stretch>
            <a:fillRect/>
          </a:stretch>
        </p:blipFill>
        <p:spPr>
          <a:xfrm>
            <a:off x="4464558" y="4103370"/>
            <a:ext cx="352044" cy="352044"/>
          </a:xfrm>
          <a:prstGeom prst="rect">
            <a:avLst/>
          </a:prstGeom>
        </p:spPr>
      </p:pic>
      <p:sp>
        <p:nvSpPr>
          <p:cNvPr id="29" name="Text 21"/>
          <p:cNvSpPr/>
          <p:nvPr/>
        </p:nvSpPr>
        <p:spPr>
          <a:xfrm>
            <a:off x="3337560" y="463600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Git</a:t>
            </a:r>
            <a:endParaRPr lang="en-US" sz="1250" dirty="0"/>
          </a:p>
        </p:txBody>
      </p:sp>
      <p:sp>
        <p:nvSpPr>
          <p:cNvPr id="30" name="Shape 22"/>
          <p:cNvSpPr/>
          <p:nvPr/>
        </p:nvSpPr>
        <p:spPr>
          <a:xfrm>
            <a:off x="6126480" y="3794760"/>
            <a:ext cx="2606040" cy="1234440"/>
          </a:xfrm>
          <a:prstGeom prst="roundRect">
            <a:avLst>
              <a:gd name="adj" fmla="val 7407"/>
            </a:avLst>
          </a:prstGeom>
          <a:solidFill>
            <a:srgbClr val="FFFFFF"/>
          </a:solidFill>
          <a:ln w="12700">
            <a:solidFill>
              <a:srgbClr val="CADCFC"/>
            </a:solidFill>
            <a:prstDash val="solid"/>
          </a:ln>
        </p:spPr>
      </p:sp>
      <p:sp>
        <p:nvSpPr>
          <p:cNvPr id="31" name="Shape 23"/>
          <p:cNvSpPr/>
          <p:nvPr/>
        </p:nvSpPr>
        <p:spPr>
          <a:xfrm>
            <a:off x="7109460" y="3959352"/>
            <a:ext cx="640080" cy="640080"/>
          </a:xfrm>
          <a:prstGeom prst="ellipse">
            <a:avLst/>
          </a:prstGeom>
          <a:solidFill>
            <a:srgbClr val="1E2761"/>
          </a:solidFill>
          <a:ln/>
        </p:spPr>
      </p:sp>
      <p:pic>
        <p:nvPicPr>
          <p:cNvPr id="32" name="Image 6" descr="/home/claude/pptx_work/icons/github.png"/>
          <p:cNvPicPr>
            <a:picLocks noChangeAspect="1"/>
          </p:cNvPicPr>
          <p:nvPr/>
        </p:nvPicPr>
        <p:blipFill>
          <a:blip r:embed="rId9"/>
          <a:stretch>
            <a:fillRect/>
          </a:stretch>
        </p:blipFill>
        <p:spPr>
          <a:xfrm>
            <a:off x="7253478" y="4103370"/>
            <a:ext cx="352044" cy="352044"/>
          </a:xfrm>
          <a:prstGeom prst="rect">
            <a:avLst/>
          </a:prstGeom>
        </p:spPr>
      </p:pic>
      <p:sp>
        <p:nvSpPr>
          <p:cNvPr id="33" name="Text 24"/>
          <p:cNvSpPr/>
          <p:nvPr/>
        </p:nvSpPr>
        <p:spPr>
          <a:xfrm>
            <a:off x="6126480" y="463600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GitHub</a:t>
            </a:r>
            <a:endParaRPr lang="en-US" sz="1250" dirty="0"/>
          </a:p>
        </p:txBody>
      </p:sp>
      <p:sp>
        <p:nvSpPr>
          <p:cNvPr id="34" name="Shape 25"/>
          <p:cNvSpPr/>
          <p:nvPr/>
        </p:nvSpPr>
        <p:spPr>
          <a:xfrm>
            <a:off x="8915400" y="3794760"/>
            <a:ext cx="2606040" cy="1234440"/>
          </a:xfrm>
          <a:prstGeom prst="roundRect">
            <a:avLst>
              <a:gd name="adj" fmla="val 7407"/>
            </a:avLst>
          </a:prstGeom>
          <a:solidFill>
            <a:srgbClr val="FFFFFF"/>
          </a:solidFill>
          <a:ln w="12700">
            <a:solidFill>
              <a:srgbClr val="CADCFC"/>
            </a:solidFill>
            <a:prstDash val="solid"/>
          </a:ln>
        </p:spPr>
      </p:sp>
      <p:sp>
        <p:nvSpPr>
          <p:cNvPr id="35" name="Shape 26"/>
          <p:cNvSpPr/>
          <p:nvPr/>
        </p:nvSpPr>
        <p:spPr>
          <a:xfrm>
            <a:off x="9898380" y="3959352"/>
            <a:ext cx="640080" cy="640080"/>
          </a:xfrm>
          <a:prstGeom prst="ellipse">
            <a:avLst/>
          </a:prstGeom>
          <a:solidFill>
            <a:srgbClr val="1E2761"/>
          </a:solidFill>
          <a:ln/>
        </p:spPr>
      </p:sp>
      <p:pic>
        <p:nvPicPr>
          <p:cNvPr id="36" name="Image 7" descr="/home/claude/pptx_work/icons/search.png"/>
          <p:cNvPicPr>
            <a:picLocks noChangeAspect="1"/>
          </p:cNvPicPr>
          <p:nvPr/>
        </p:nvPicPr>
        <p:blipFill>
          <a:blip r:embed="rId10"/>
          <a:stretch>
            <a:fillRect/>
          </a:stretch>
        </p:blipFill>
        <p:spPr>
          <a:xfrm>
            <a:off x="10042398" y="4103370"/>
            <a:ext cx="352044" cy="352044"/>
          </a:xfrm>
          <a:prstGeom prst="rect">
            <a:avLst/>
          </a:prstGeom>
        </p:spPr>
      </p:pic>
      <p:sp>
        <p:nvSpPr>
          <p:cNvPr id="37" name="Text 27"/>
          <p:cNvSpPr/>
          <p:nvPr/>
        </p:nvSpPr>
        <p:spPr>
          <a:xfrm>
            <a:off x="8915400" y="4636008"/>
            <a:ext cx="2606040" cy="320040"/>
          </a:xfrm>
          <a:prstGeom prst="rect">
            <a:avLst/>
          </a:prstGeom>
          <a:noFill/>
          <a:ln/>
        </p:spPr>
        <p:txBody>
          <a:bodyPr wrap="square" rtlCol="0" anchor="ctr"/>
          <a:lstStyle/>
          <a:p>
            <a:pPr marL="0" indent="0" algn="ctr">
              <a:buNone/>
            </a:pPr>
            <a:r>
              <a:rPr lang="en-US" sz="1250" b="1" dirty="0">
                <a:solidFill>
                  <a:srgbClr val="445068"/>
                </a:solidFill>
                <a:latin typeface="Calibri" pitchFamily="34" charset="0"/>
                <a:ea typeface="Calibri" pitchFamily="34" charset="-122"/>
                <a:cs typeface="Calibri" pitchFamily="34" charset="-120"/>
              </a:rPr>
              <a:t>Browser DevTools</a:t>
            </a:r>
            <a:endParaRPr lang="en-US" sz="1250" dirty="0"/>
          </a:p>
        </p:txBody>
      </p:sp>
      <p:sp>
        <p:nvSpPr>
          <p:cNvPr id="38" name="Shape 28"/>
          <p:cNvSpPr/>
          <p:nvPr/>
        </p:nvSpPr>
        <p:spPr>
          <a:xfrm>
            <a:off x="548640" y="5623560"/>
            <a:ext cx="11091672" cy="777240"/>
          </a:xfrm>
          <a:prstGeom prst="roundRect">
            <a:avLst>
              <a:gd name="adj" fmla="val 11765"/>
            </a:avLst>
          </a:prstGeom>
          <a:solidFill>
            <a:srgbClr val="1E2761"/>
          </a:solidFill>
          <a:ln/>
        </p:spPr>
      </p:sp>
      <p:sp>
        <p:nvSpPr>
          <p:cNvPr id="39" name="Text 29"/>
          <p:cNvSpPr/>
          <p:nvPr/>
        </p:nvSpPr>
        <p:spPr>
          <a:xfrm>
            <a:off x="822960" y="5623560"/>
            <a:ext cx="10515600" cy="777240"/>
          </a:xfrm>
          <a:prstGeom prst="rect">
            <a:avLst/>
          </a:prstGeom>
          <a:noFill/>
          <a:ln/>
        </p:spPr>
        <p:txBody>
          <a:bodyPr wrap="square" rtlCol="0" anchor="ctr"/>
          <a:lstStyle/>
          <a:p>
            <a:pPr marL="0" indent="0">
              <a:buNone/>
            </a:pPr>
            <a:r>
              <a:rPr lang="en-US" sz="1200" b="1" kern="0" spc="100" dirty="0">
                <a:solidFill>
                  <a:srgbClr val="4C7FFF"/>
                </a:solidFill>
                <a:latin typeface="Calibri" pitchFamily="34" charset="0"/>
                <a:ea typeface="Calibri" pitchFamily="34" charset="-122"/>
                <a:cs typeface="Calibri" pitchFamily="34" charset="-120"/>
              </a:rPr>
              <a:t>KEY FOCUS   </a:t>
            </a:r>
            <a:r>
              <a:rPr lang="en-US" sz="1450" b="1" dirty="0">
                <a:solidFill>
                  <a:srgbClr val="FFFFFF"/>
                </a:solidFill>
                <a:latin typeface="Calibri" pitchFamily="34" charset="0"/>
                <a:ea typeface="Calibri" pitchFamily="34" charset="-122"/>
                <a:cs typeface="Calibri" pitchFamily="34" charset="-120"/>
              </a:rPr>
              <a:t>UI Development  +  Responsive Design  +  Interactive Components</a:t>
            </a:r>
            <a:endParaRPr lang="en-US" sz="1200" dirty="0"/>
          </a:p>
        </p:txBody>
      </p:sp>
      <p:sp>
        <p:nvSpPr>
          <p:cNvPr id="40" name="Text 30"/>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06  ·  RESPONSIBILITIES</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My Role &amp; Responsibilities</a:t>
            </a:r>
            <a:endParaRPr lang="en-US" sz="3200" dirty="0"/>
          </a:p>
        </p:txBody>
      </p:sp>
      <p:sp>
        <p:nvSpPr>
          <p:cNvPr id="4" name="Text 2"/>
          <p:cNvSpPr/>
          <p:nvPr/>
        </p:nvSpPr>
        <p:spPr>
          <a:xfrm>
            <a:off x="548640" y="1325880"/>
            <a:ext cx="5577840" cy="822960"/>
          </a:xfrm>
          <a:prstGeom prst="rect">
            <a:avLst/>
          </a:prstGeom>
          <a:noFill/>
          <a:ln/>
        </p:spPr>
        <p:txBody>
          <a:bodyPr wrap="square" rtlCol="0" anchor="ctr"/>
          <a:lstStyle/>
          <a:p>
            <a:r>
              <a:rPr lang="en-IN" sz="1400" dirty="0"/>
              <a:t>As a </a:t>
            </a:r>
            <a:r>
              <a:rPr lang="en-IN" sz="1400" b="1" dirty="0"/>
              <a:t>Data Analytics with AI Intern</a:t>
            </a:r>
            <a:r>
              <a:rPr lang="en-IN" sz="1400" dirty="0"/>
              <a:t>, my primary responsibilities focused on developing practical understanding of data analytics, AI, and machine-learning concepts through structured learning and project-based activities.</a:t>
            </a:r>
            <a:endParaRPr lang="en-US" sz="1350" dirty="0"/>
          </a:p>
        </p:txBody>
      </p:sp>
      <p:sp>
        <p:nvSpPr>
          <p:cNvPr id="5" name="Shape 3"/>
          <p:cNvSpPr/>
          <p:nvPr/>
        </p:nvSpPr>
        <p:spPr>
          <a:xfrm>
            <a:off x="548640" y="2340864"/>
            <a:ext cx="109728" cy="109728"/>
          </a:xfrm>
          <a:prstGeom prst="ellipse">
            <a:avLst/>
          </a:prstGeom>
          <a:solidFill>
            <a:srgbClr val="4C7FFF"/>
          </a:solidFill>
          <a:ln/>
        </p:spPr>
      </p:sp>
      <p:sp>
        <p:nvSpPr>
          <p:cNvPr id="6" name="Text 4"/>
          <p:cNvSpPr/>
          <p:nvPr/>
        </p:nvSpPr>
        <p:spPr>
          <a:xfrm>
            <a:off x="777240" y="2286000"/>
            <a:ext cx="5349240" cy="384048"/>
          </a:xfrm>
          <a:prstGeom prst="rect">
            <a:avLst/>
          </a:prstGeom>
          <a:noFill/>
          <a:ln/>
        </p:spPr>
        <p:txBody>
          <a:bodyPr wrap="square" rtlCol="0" anchor="ctr"/>
          <a:lstStyle/>
          <a:p>
            <a:r>
              <a:rPr lang="en-IN" sz="1400" dirty="0"/>
              <a:t>Completing the </a:t>
            </a:r>
            <a:r>
              <a:rPr lang="en-IN" sz="1400" b="1" dirty="0"/>
              <a:t>IBM </a:t>
            </a:r>
            <a:r>
              <a:rPr lang="en-IN" sz="1400" b="1" dirty="0" err="1"/>
              <a:t>SkillsBuild</a:t>
            </a:r>
            <a:r>
              <a:rPr lang="en-IN" sz="1400" b="1" dirty="0"/>
              <a:t> learning plan</a:t>
            </a:r>
            <a:endParaRPr lang="en-US" sz="1250" dirty="0"/>
          </a:p>
        </p:txBody>
      </p:sp>
      <p:sp>
        <p:nvSpPr>
          <p:cNvPr id="7" name="Shape 5"/>
          <p:cNvSpPr/>
          <p:nvPr/>
        </p:nvSpPr>
        <p:spPr>
          <a:xfrm>
            <a:off x="548640" y="2843784"/>
            <a:ext cx="109728" cy="109728"/>
          </a:xfrm>
          <a:prstGeom prst="ellipse">
            <a:avLst/>
          </a:prstGeom>
          <a:solidFill>
            <a:srgbClr val="4C7FFF"/>
          </a:solidFill>
          <a:ln/>
        </p:spPr>
      </p:sp>
      <p:sp>
        <p:nvSpPr>
          <p:cNvPr id="8" name="Text 6"/>
          <p:cNvSpPr/>
          <p:nvPr/>
        </p:nvSpPr>
        <p:spPr>
          <a:xfrm>
            <a:off x="777240" y="2788920"/>
            <a:ext cx="5349240" cy="384048"/>
          </a:xfrm>
          <a:prstGeom prst="rect">
            <a:avLst/>
          </a:prstGeom>
          <a:noFill/>
          <a:ln/>
        </p:spPr>
        <p:txBody>
          <a:bodyPr wrap="square" rtlCol="0" anchor="ctr"/>
          <a:lstStyle/>
          <a:p>
            <a:r>
              <a:rPr lang="en-IN" sz="1400" dirty="0"/>
              <a:t>Participating in weekly </a:t>
            </a:r>
            <a:r>
              <a:rPr lang="en-IN" sz="1400" b="1" dirty="0"/>
              <a:t>masterclasses and mentor sessions</a:t>
            </a:r>
            <a:endParaRPr lang="en-US" sz="1250" dirty="0"/>
          </a:p>
        </p:txBody>
      </p:sp>
      <p:sp>
        <p:nvSpPr>
          <p:cNvPr id="9" name="Shape 7"/>
          <p:cNvSpPr/>
          <p:nvPr/>
        </p:nvSpPr>
        <p:spPr>
          <a:xfrm>
            <a:off x="548640" y="3346704"/>
            <a:ext cx="109728" cy="109728"/>
          </a:xfrm>
          <a:prstGeom prst="ellipse">
            <a:avLst/>
          </a:prstGeom>
          <a:solidFill>
            <a:srgbClr val="4C7FFF"/>
          </a:solidFill>
          <a:ln/>
        </p:spPr>
      </p:sp>
      <p:sp>
        <p:nvSpPr>
          <p:cNvPr id="10" name="Text 8"/>
          <p:cNvSpPr/>
          <p:nvPr/>
        </p:nvSpPr>
        <p:spPr>
          <a:xfrm>
            <a:off x="777240" y="3291840"/>
            <a:ext cx="5349240" cy="384048"/>
          </a:xfrm>
          <a:prstGeom prst="rect">
            <a:avLst/>
          </a:prstGeom>
          <a:noFill/>
          <a:ln/>
        </p:spPr>
        <p:txBody>
          <a:bodyPr wrap="square" rtlCol="0" anchor="ctr"/>
          <a:lstStyle/>
          <a:p>
            <a:r>
              <a:rPr lang="en-IN" sz="1400" dirty="0"/>
              <a:t>Learning </a:t>
            </a:r>
            <a:r>
              <a:rPr lang="en-IN" sz="1400" b="1" dirty="0"/>
              <a:t>data cleaning, wrangling, and preprocessing</a:t>
            </a:r>
            <a:endParaRPr lang="en-US" sz="1250" dirty="0"/>
          </a:p>
        </p:txBody>
      </p:sp>
      <p:sp>
        <p:nvSpPr>
          <p:cNvPr id="11" name="Shape 9"/>
          <p:cNvSpPr/>
          <p:nvPr/>
        </p:nvSpPr>
        <p:spPr>
          <a:xfrm>
            <a:off x="548640" y="3849624"/>
            <a:ext cx="109728" cy="109728"/>
          </a:xfrm>
          <a:prstGeom prst="ellipse">
            <a:avLst/>
          </a:prstGeom>
          <a:solidFill>
            <a:srgbClr val="4C7FFF"/>
          </a:solidFill>
          <a:ln/>
        </p:spPr>
      </p:sp>
      <p:sp>
        <p:nvSpPr>
          <p:cNvPr id="12" name="Text 10"/>
          <p:cNvSpPr/>
          <p:nvPr/>
        </p:nvSpPr>
        <p:spPr>
          <a:xfrm>
            <a:off x="777240" y="3794760"/>
            <a:ext cx="5349240" cy="384048"/>
          </a:xfrm>
          <a:prstGeom prst="rect">
            <a:avLst/>
          </a:prstGeom>
          <a:noFill/>
          <a:ln/>
        </p:spPr>
        <p:txBody>
          <a:bodyPr wrap="square" rtlCol="0" anchor="ctr"/>
          <a:lstStyle/>
          <a:p>
            <a:r>
              <a:rPr lang="en-IN" sz="1400" dirty="0"/>
              <a:t>Performing </a:t>
            </a:r>
            <a:r>
              <a:rPr lang="en-IN" sz="1400" b="1" dirty="0"/>
              <a:t>Exploratory Data Analysis (EDA)</a:t>
            </a:r>
            <a:endParaRPr lang="en-US" sz="1250" dirty="0"/>
          </a:p>
        </p:txBody>
      </p:sp>
      <p:sp>
        <p:nvSpPr>
          <p:cNvPr id="13" name="Shape 11"/>
          <p:cNvSpPr/>
          <p:nvPr/>
        </p:nvSpPr>
        <p:spPr>
          <a:xfrm>
            <a:off x="548640" y="4352544"/>
            <a:ext cx="109728" cy="109728"/>
          </a:xfrm>
          <a:prstGeom prst="ellipse">
            <a:avLst/>
          </a:prstGeom>
          <a:solidFill>
            <a:srgbClr val="4C7FFF"/>
          </a:solidFill>
          <a:ln/>
        </p:spPr>
      </p:sp>
      <p:sp>
        <p:nvSpPr>
          <p:cNvPr id="14" name="Text 12"/>
          <p:cNvSpPr/>
          <p:nvPr/>
        </p:nvSpPr>
        <p:spPr>
          <a:xfrm>
            <a:off x="777240" y="4297680"/>
            <a:ext cx="5349240" cy="384048"/>
          </a:xfrm>
          <a:prstGeom prst="rect">
            <a:avLst/>
          </a:prstGeom>
          <a:noFill/>
          <a:ln/>
        </p:spPr>
        <p:txBody>
          <a:bodyPr wrap="square" rtlCol="0" anchor="ctr"/>
          <a:lstStyle/>
          <a:p>
            <a:r>
              <a:rPr lang="en-IN" sz="1400" dirty="0"/>
              <a:t>Understanding </a:t>
            </a:r>
            <a:r>
              <a:rPr lang="en-IN" sz="1400" b="1" dirty="0"/>
              <a:t>predictive analytics and machine learning</a:t>
            </a:r>
            <a:endParaRPr lang="en-US" sz="1250" dirty="0"/>
          </a:p>
        </p:txBody>
      </p:sp>
      <p:sp>
        <p:nvSpPr>
          <p:cNvPr id="15" name="Shape 13"/>
          <p:cNvSpPr/>
          <p:nvPr/>
        </p:nvSpPr>
        <p:spPr>
          <a:xfrm>
            <a:off x="548640" y="4855464"/>
            <a:ext cx="109728" cy="109728"/>
          </a:xfrm>
          <a:prstGeom prst="ellipse">
            <a:avLst/>
          </a:prstGeom>
          <a:solidFill>
            <a:srgbClr val="4C7FFF"/>
          </a:solidFill>
          <a:ln/>
        </p:spPr>
      </p:sp>
      <p:sp>
        <p:nvSpPr>
          <p:cNvPr id="16" name="Text 14"/>
          <p:cNvSpPr/>
          <p:nvPr/>
        </p:nvSpPr>
        <p:spPr>
          <a:xfrm>
            <a:off x="777240" y="4800600"/>
            <a:ext cx="5349240" cy="384048"/>
          </a:xfrm>
          <a:prstGeom prst="rect">
            <a:avLst/>
          </a:prstGeom>
          <a:noFill/>
          <a:ln/>
        </p:spPr>
        <p:txBody>
          <a:bodyPr wrap="square" rtlCol="0" anchor="ctr"/>
          <a:lstStyle/>
          <a:p>
            <a:r>
              <a:rPr lang="en-IN" sz="1400" dirty="0"/>
              <a:t>Applying learned concepts to the </a:t>
            </a:r>
            <a:r>
              <a:rPr lang="en-IN" sz="1400" b="1" dirty="0"/>
              <a:t>final project</a:t>
            </a:r>
            <a:endParaRPr lang="en-US" sz="1250" dirty="0"/>
          </a:p>
        </p:txBody>
      </p:sp>
      <p:sp>
        <p:nvSpPr>
          <p:cNvPr id="17" name="Shape 15"/>
          <p:cNvSpPr/>
          <p:nvPr/>
        </p:nvSpPr>
        <p:spPr>
          <a:xfrm>
            <a:off x="548640" y="5358384"/>
            <a:ext cx="109728" cy="109728"/>
          </a:xfrm>
          <a:prstGeom prst="ellipse">
            <a:avLst/>
          </a:prstGeom>
          <a:solidFill>
            <a:srgbClr val="4C7FFF"/>
          </a:solidFill>
          <a:ln/>
        </p:spPr>
      </p:sp>
      <p:sp>
        <p:nvSpPr>
          <p:cNvPr id="18" name="Text 16"/>
          <p:cNvSpPr/>
          <p:nvPr/>
        </p:nvSpPr>
        <p:spPr>
          <a:xfrm>
            <a:off x="777240" y="5303520"/>
            <a:ext cx="5349240" cy="384048"/>
          </a:xfrm>
          <a:prstGeom prst="rect">
            <a:avLst/>
          </a:prstGeom>
          <a:noFill/>
          <a:ln/>
        </p:spPr>
        <p:txBody>
          <a:bodyPr wrap="square" rtlCol="0" anchor="ctr"/>
          <a:lstStyle/>
          <a:p>
            <a:r>
              <a:rPr lang="en-IN" sz="1400" dirty="0"/>
              <a:t>Preparing and submitting the </a:t>
            </a:r>
            <a:r>
              <a:rPr lang="en-IN" sz="1400" b="1" dirty="0"/>
              <a:t>final project and presentation</a:t>
            </a:r>
            <a:endParaRPr lang="en-US" sz="1250" dirty="0"/>
          </a:p>
        </p:txBody>
      </p:sp>
      <p:sp>
        <p:nvSpPr>
          <p:cNvPr id="19" name="Shape 17"/>
          <p:cNvSpPr/>
          <p:nvPr/>
        </p:nvSpPr>
        <p:spPr>
          <a:xfrm>
            <a:off x="548640" y="5861304"/>
            <a:ext cx="109728" cy="109728"/>
          </a:xfrm>
          <a:prstGeom prst="ellipse">
            <a:avLst/>
          </a:prstGeom>
          <a:solidFill>
            <a:srgbClr val="4C7FFF"/>
          </a:solidFill>
          <a:ln/>
        </p:spPr>
      </p:sp>
      <p:sp>
        <p:nvSpPr>
          <p:cNvPr id="20" name="Text 18"/>
          <p:cNvSpPr/>
          <p:nvPr/>
        </p:nvSpPr>
        <p:spPr>
          <a:xfrm>
            <a:off x="777240" y="5806440"/>
            <a:ext cx="5349240" cy="384048"/>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Improving overall user experience</a:t>
            </a:r>
            <a:endParaRPr lang="en-US" sz="1250" dirty="0"/>
          </a:p>
        </p:txBody>
      </p:sp>
      <p:sp>
        <p:nvSpPr>
          <p:cNvPr id="21" name="Shape 19"/>
          <p:cNvSpPr/>
          <p:nvPr/>
        </p:nvSpPr>
        <p:spPr>
          <a:xfrm>
            <a:off x="6355080" y="1325880"/>
            <a:ext cx="5285232" cy="4892040"/>
          </a:xfrm>
          <a:prstGeom prst="roundRect">
            <a:avLst>
              <a:gd name="adj" fmla="val 2243"/>
            </a:avLst>
          </a:prstGeom>
          <a:solidFill>
            <a:srgbClr val="1E2761"/>
          </a:solidFill>
          <a:ln/>
        </p:spPr>
      </p:sp>
      <p:sp>
        <p:nvSpPr>
          <p:cNvPr id="22" name="Text 20"/>
          <p:cNvSpPr/>
          <p:nvPr/>
        </p:nvSpPr>
        <p:spPr>
          <a:xfrm>
            <a:off x="6629400" y="1554480"/>
            <a:ext cx="4754880" cy="320040"/>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WORKFLOW</a:t>
            </a:r>
            <a:endParaRPr lang="en-US" sz="1200" dirty="0"/>
          </a:p>
        </p:txBody>
      </p:sp>
      <p:sp>
        <p:nvSpPr>
          <p:cNvPr id="23" name="Shape 21"/>
          <p:cNvSpPr/>
          <p:nvPr/>
        </p:nvSpPr>
        <p:spPr>
          <a:xfrm>
            <a:off x="6720840" y="2057400"/>
            <a:ext cx="566928" cy="566928"/>
          </a:xfrm>
          <a:prstGeom prst="ellipse">
            <a:avLst/>
          </a:prstGeom>
          <a:solidFill>
            <a:srgbClr val="4C7FFF"/>
          </a:solidFill>
          <a:ln/>
        </p:spPr>
      </p:sp>
      <p:pic>
        <p:nvPicPr>
          <p:cNvPr id="24" name="Image 0" descr="/home/claude/pptx_work/icons/pencil-ruler.png"/>
          <p:cNvPicPr>
            <a:picLocks noChangeAspect="1"/>
          </p:cNvPicPr>
          <p:nvPr/>
        </p:nvPicPr>
        <p:blipFill>
          <a:blip r:embed="rId3"/>
          <a:stretch>
            <a:fillRect/>
          </a:stretch>
        </p:blipFill>
        <p:spPr>
          <a:xfrm>
            <a:off x="6848399" y="2184959"/>
            <a:ext cx="311810" cy="311810"/>
          </a:xfrm>
          <a:prstGeom prst="rect">
            <a:avLst/>
          </a:prstGeom>
        </p:spPr>
      </p:pic>
      <p:sp>
        <p:nvSpPr>
          <p:cNvPr id="25" name="Text 22"/>
          <p:cNvSpPr/>
          <p:nvPr/>
        </p:nvSpPr>
        <p:spPr>
          <a:xfrm>
            <a:off x="7452360" y="2057400"/>
            <a:ext cx="3931920"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Learn</a:t>
            </a:r>
            <a:endParaRPr lang="en-US" sz="1450" dirty="0"/>
          </a:p>
        </p:txBody>
      </p:sp>
      <p:sp>
        <p:nvSpPr>
          <p:cNvPr id="26" name="Shape 23"/>
          <p:cNvSpPr/>
          <p:nvPr/>
        </p:nvSpPr>
        <p:spPr>
          <a:xfrm>
            <a:off x="7004304" y="2624328"/>
            <a:ext cx="0" cy="292608"/>
          </a:xfrm>
          <a:prstGeom prst="line">
            <a:avLst/>
          </a:prstGeom>
          <a:noFill/>
          <a:ln w="19050">
            <a:solidFill>
              <a:srgbClr val="CADCFC"/>
            </a:solidFill>
            <a:prstDash val="dash"/>
          </a:ln>
        </p:spPr>
      </p:sp>
      <p:sp>
        <p:nvSpPr>
          <p:cNvPr id="27" name="Shape 24"/>
          <p:cNvSpPr/>
          <p:nvPr/>
        </p:nvSpPr>
        <p:spPr>
          <a:xfrm>
            <a:off x="6720840" y="2916936"/>
            <a:ext cx="566928" cy="566928"/>
          </a:xfrm>
          <a:prstGeom prst="ellipse">
            <a:avLst/>
          </a:prstGeom>
          <a:solidFill>
            <a:srgbClr val="4C7FFF"/>
          </a:solidFill>
          <a:ln/>
        </p:spPr>
      </p:sp>
      <p:pic>
        <p:nvPicPr>
          <p:cNvPr id="28" name="Image 1" descr="/home/claude/pptx_work/icons/code.png"/>
          <p:cNvPicPr>
            <a:picLocks noChangeAspect="1"/>
          </p:cNvPicPr>
          <p:nvPr/>
        </p:nvPicPr>
        <p:blipFill>
          <a:blip r:embed="rId4"/>
          <a:stretch>
            <a:fillRect/>
          </a:stretch>
        </p:blipFill>
        <p:spPr>
          <a:xfrm>
            <a:off x="6848399" y="3044495"/>
            <a:ext cx="311810" cy="311810"/>
          </a:xfrm>
          <a:prstGeom prst="rect">
            <a:avLst/>
          </a:prstGeom>
        </p:spPr>
      </p:pic>
      <p:sp>
        <p:nvSpPr>
          <p:cNvPr id="29" name="Text 25"/>
          <p:cNvSpPr/>
          <p:nvPr/>
        </p:nvSpPr>
        <p:spPr>
          <a:xfrm>
            <a:off x="7452360" y="2916936"/>
            <a:ext cx="3931920" cy="566928"/>
          </a:xfrm>
          <a:prstGeom prst="rect">
            <a:avLst/>
          </a:prstGeom>
          <a:noFill/>
          <a:ln/>
        </p:spPr>
        <p:txBody>
          <a:bodyPr wrap="square" rtlCol="0" anchor="ctr"/>
          <a:lstStyle/>
          <a:p>
            <a:pPr marL="0" indent="0">
              <a:buNone/>
            </a:pPr>
            <a:r>
              <a:rPr lang="en-US" sz="1450" b="1" dirty="0">
                <a:solidFill>
                  <a:schemeClr val="bg1"/>
                </a:solidFill>
              </a:rPr>
              <a:t>Prepare Data</a:t>
            </a:r>
          </a:p>
        </p:txBody>
      </p:sp>
      <p:sp>
        <p:nvSpPr>
          <p:cNvPr id="30" name="Shape 26"/>
          <p:cNvSpPr/>
          <p:nvPr/>
        </p:nvSpPr>
        <p:spPr>
          <a:xfrm>
            <a:off x="7004304" y="3483864"/>
            <a:ext cx="0" cy="292608"/>
          </a:xfrm>
          <a:prstGeom prst="line">
            <a:avLst/>
          </a:prstGeom>
          <a:noFill/>
          <a:ln w="19050">
            <a:solidFill>
              <a:srgbClr val="CADCFC"/>
            </a:solidFill>
            <a:prstDash val="dash"/>
          </a:ln>
        </p:spPr>
      </p:sp>
      <p:sp>
        <p:nvSpPr>
          <p:cNvPr id="31" name="Shape 27"/>
          <p:cNvSpPr/>
          <p:nvPr/>
        </p:nvSpPr>
        <p:spPr>
          <a:xfrm>
            <a:off x="6720840" y="3776472"/>
            <a:ext cx="566928" cy="566928"/>
          </a:xfrm>
          <a:prstGeom prst="ellipse">
            <a:avLst/>
          </a:prstGeom>
          <a:solidFill>
            <a:srgbClr val="4C7FFF"/>
          </a:solidFill>
          <a:ln/>
        </p:spPr>
      </p:sp>
      <p:pic>
        <p:nvPicPr>
          <p:cNvPr id="32" name="Image 2" descr="/home/claude/pptx_work/icons/bug.png"/>
          <p:cNvPicPr>
            <a:picLocks noChangeAspect="1"/>
          </p:cNvPicPr>
          <p:nvPr/>
        </p:nvPicPr>
        <p:blipFill>
          <a:blip r:embed="rId5"/>
          <a:stretch>
            <a:fillRect/>
          </a:stretch>
        </p:blipFill>
        <p:spPr>
          <a:xfrm>
            <a:off x="6848399" y="3904031"/>
            <a:ext cx="311810" cy="311810"/>
          </a:xfrm>
          <a:prstGeom prst="rect">
            <a:avLst/>
          </a:prstGeom>
        </p:spPr>
      </p:pic>
      <p:sp>
        <p:nvSpPr>
          <p:cNvPr id="33" name="Text 28"/>
          <p:cNvSpPr/>
          <p:nvPr/>
        </p:nvSpPr>
        <p:spPr>
          <a:xfrm>
            <a:off x="7452360" y="3776472"/>
            <a:ext cx="3931920"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Analyze</a:t>
            </a:r>
            <a:endParaRPr lang="en-US" sz="1450" dirty="0"/>
          </a:p>
        </p:txBody>
      </p:sp>
      <p:sp>
        <p:nvSpPr>
          <p:cNvPr id="34" name="Shape 29"/>
          <p:cNvSpPr/>
          <p:nvPr/>
        </p:nvSpPr>
        <p:spPr>
          <a:xfrm>
            <a:off x="7004304" y="4343400"/>
            <a:ext cx="0" cy="292608"/>
          </a:xfrm>
          <a:prstGeom prst="line">
            <a:avLst/>
          </a:prstGeom>
          <a:noFill/>
          <a:ln w="19050">
            <a:solidFill>
              <a:srgbClr val="CADCFC"/>
            </a:solidFill>
            <a:prstDash val="dash"/>
          </a:ln>
        </p:spPr>
      </p:sp>
      <p:sp>
        <p:nvSpPr>
          <p:cNvPr id="35" name="Shape 30"/>
          <p:cNvSpPr/>
          <p:nvPr/>
        </p:nvSpPr>
        <p:spPr>
          <a:xfrm>
            <a:off x="6720840" y="4636008"/>
            <a:ext cx="566928" cy="566928"/>
          </a:xfrm>
          <a:prstGeom prst="ellipse">
            <a:avLst/>
          </a:prstGeom>
          <a:solidFill>
            <a:srgbClr val="4C7FFF"/>
          </a:solidFill>
          <a:ln/>
        </p:spPr>
      </p:sp>
      <p:pic>
        <p:nvPicPr>
          <p:cNvPr id="36" name="Image 3" descr="/home/claude/pptx_work/icons/wrench.png"/>
          <p:cNvPicPr>
            <a:picLocks noChangeAspect="1"/>
          </p:cNvPicPr>
          <p:nvPr/>
        </p:nvPicPr>
        <p:blipFill>
          <a:blip r:embed="rId6"/>
          <a:stretch>
            <a:fillRect/>
          </a:stretch>
        </p:blipFill>
        <p:spPr>
          <a:xfrm>
            <a:off x="6848399" y="4763567"/>
            <a:ext cx="311810" cy="311810"/>
          </a:xfrm>
          <a:prstGeom prst="rect">
            <a:avLst/>
          </a:prstGeom>
        </p:spPr>
      </p:pic>
      <p:sp>
        <p:nvSpPr>
          <p:cNvPr id="37" name="Text 31"/>
          <p:cNvSpPr/>
          <p:nvPr/>
        </p:nvSpPr>
        <p:spPr>
          <a:xfrm>
            <a:off x="7452360" y="4636008"/>
            <a:ext cx="3931920"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Develop Project</a:t>
            </a:r>
            <a:endParaRPr lang="en-US" sz="1450" dirty="0"/>
          </a:p>
        </p:txBody>
      </p:sp>
      <p:sp>
        <p:nvSpPr>
          <p:cNvPr id="38" name="Shape 32"/>
          <p:cNvSpPr/>
          <p:nvPr/>
        </p:nvSpPr>
        <p:spPr>
          <a:xfrm>
            <a:off x="7004304" y="5202936"/>
            <a:ext cx="0" cy="292608"/>
          </a:xfrm>
          <a:prstGeom prst="line">
            <a:avLst/>
          </a:prstGeom>
          <a:noFill/>
          <a:ln w="19050">
            <a:solidFill>
              <a:srgbClr val="CADCFC"/>
            </a:solidFill>
            <a:prstDash val="dash"/>
          </a:ln>
        </p:spPr>
      </p:sp>
      <p:sp>
        <p:nvSpPr>
          <p:cNvPr id="39" name="Shape 33"/>
          <p:cNvSpPr/>
          <p:nvPr/>
        </p:nvSpPr>
        <p:spPr>
          <a:xfrm>
            <a:off x="6720840" y="5495544"/>
            <a:ext cx="566928" cy="566928"/>
          </a:xfrm>
          <a:prstGeom prst="ellipse">
            <a:avLst/>
          </a:prstGeom>
          <a:solidFill>
            <a:srgbClr val="4C7FFF"/>
          </a:solidFill>
          <a:ln/>
        </p:spPr>
      </p:sp>
      <p:pic>
        <p:nvPicPr>
          <p:cNvPr id="40" name="Image 4" descr="/home/claude/pptx_work/icons/rocket.png"/>
          <p:cNvPicPr>
            <a:picLocks noChangeAspect="1"/>
          </p:cNvPicPr>
          <p:nvPr/>
        </p:nvPicPr>
        <p:blipFill>
          <a:blip r:embed="rId7"/>
          <a:stretch>
            <a:fillRect/>
          </a:stretch>
        </p:blipFill>
        <p:spPr>
          <a:xfrm>
            <a:off x="6848399" y="5623103"/>
            <a:ext cx="311810" cy="311810"/>
          </a:xfrm>
          <a:prstGeom prst="rect">
            <a:avLst/>
          </a:prstGeom>
        </p:spPr>
      </p:pic>
      <p:sp>
        <p:nvSpPr>
          <p:cNvPr id="41" name="Text 34"/>
          <p:cNvSpPr/>
          <p:nvPr/>
        </p:nvSpPr>
        <p:spPr>
          <a:xfrm>
            <a:off x="7452360" y="5495544"/>
            <a:ext cx="3931920" cy="56692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Optimization</a:t>
            </a:r>
            <a:endParaRPr lang="en-US" sz="1450" dirty="0"/>
          </a:p>
        </p:txBody>
      </p:sp>
      <p:sp>
        <p:nvSpPr>
          <p:cNvPr id="42" name="Text 3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07  ·  WORK DONE</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Projects During Internship</a:t>
            </a:r>
            <a:endParaRPr lang="en-US" sz="3200" dirty="0"/>
          </a:p>
        </p:txBody>
      </p:sp>
      <p:sp>
        <p:nvSpPr>
          <p:cNvPr id="4" name="Shape 2"/>
          <p:cNvSpPr/>
          <p:nvPr/>
        </p:nvSpPr>
        <p:spPr>
          <a:xfrm>
            <a:off x="548640" y="1417320"/>
            <a:ext cx="5440680" cy="4892040"/>
          </a:xfrm>
          <a:prstGeom prst="roundRect">
            <a:avLst>
              <a:gd name="adj" fmla="val 2243"/>
            </a:avLst>
          </a:prstGeom>
          <a:solidFill>
            <a:srgbClr val="FFFFFF"/>
          </a:solidFill>
          <a:ln w="12700">
            <a:solidFill>
              <a:srgbClr val="CADCFC"/>
            </a:solidFill>
            <a:prstDash val="solid"/>
          </a:ln>
          <a:effectLst>
            <a:outerShdw blurRad="101600" dist="25400" dir="5400000" algn="bl" rotWithShape="0">
              <a:srgbClr val="1E2761">
                <a:alpha val="10000"/>
              </a:srgbClr>
            </a:outerShdw>
          </a:effectLst>
        </p:spPr>
      </p:sp>
      <p:sp>
        <p:nvSpPr>
          <p:cNvPr id="5" name="Shape 3"/>
          <p:cNvSpPr/>
          <p:nvPr/>
        </p:nvSpPr>
        <p:spPr>
          <a:xfrm>
            <a:off x="868680" y="1691640"/>
            <a:ext cx="4800600" cy="1737360"/>
          </a:xfrm>
          <a:prstGeom prst="roundRect">
            <a:avLst>
              <a:gd name="adj" fmla="val 4211"/>
            </a:avLst>
          </a:prstGeom>
          <a:solidFill>
            <a:srgbClr val="1E2761"/>
          </a:solidFill>
          <a:ln/>
        </p:spPr>
      </p:sp>
      <p:sp>
        <p:nvSpPr>
          <p:cNvPr id="6" name="Shape 4"/>
          <p:cNvSpPr/>
          <p:nvPr/>
        </p:nvSpPr>
        <p:spPr>
          <a:xfrm>
            <a:off x="1051560" y="1828800"/>
            <a:ext cx="109728" cy="109728"/>
          </a:xfrm>
          <a:prstGeom prst="ellipse">
            <a:avLst/>
          </a:prstGeom>
          <a:solidFill>
            <a:srgbClr val="FF6B6B"/>
          </a:solidFill>
          <a:ln/>
        </p:spPr>
      </p:sp>
      <p:sp>
        <p:nvSpPr>
          <p:cNvPr id="7" name="Shape 5"/>
          <p:cNvSpPr/>
          <p:nvPr/>
        </p:nvSpPr>
        <p:spPr>
          <a:xfrm>
            <a:off x="1252728" y="1828800"/>
            <a:ext cx="109728" cy="109728"/>
          </a:xfrm>
          <a:prstGeom prst="ellipse">
            <a:avLst/>
          </a:prstGeom>
          <a:solidFill>
            <a:srgbClr val="FFD166"/>
          </a:solidFill>
          <a:ln/>
        </p:spPr>
      </p:sp>
      <p:sp>
        <p:nvSpPr>
          <p:cNvPr id="8" name="Shape 6"/>
          <p:cNvSpPr/>
          <p:nvPr/>
        </p:nvSpPr>
        <p:spPr>
          <a:xfrm>
            <a:off x="1453896" y="1828800"/>
            <a:ext cx="109728" cy="109728"/>
          </a:xfrm>
          <a:prstGeom prst="ellipse">
            <a:avLst/>
          </a:prstGeom>
          <a:solidFill>
            <a:srgbClr val="06D6A0"/>
          </a:solidFill>
          <a:ln/>
        </p:spPr>
      </p:sp>
      <p:sp>
        <p:nvSpPr>
          <p:cNvPr id="9" name="Shape 7"/>
          <p:cNvSpPr/>
          <p:nvPr/>
        </p:nvSpPr>
        <p:spPr>
          <a:xfrm>
            <a:off x="2926080" y="2240280"/>
            <a:ext cx="914400" cy="914400"/>
          </a:xfrm>
          <a:prstGeom prst="ellipse">
            <a:avLst/>
          </a:prstGeom>
          <a:solidFill>
            <a:srgbClr val="4C7FFF"/>
          </a:solidFill>
          <a:ln/>
        </p:spPr>
      </p:sp>
      <p:pic>
        <p:nvPicPr>
          <p:cNvPr id="10" name="Image 0" descr="/home/claude/pptx_work/icons/window-restore.png"/>
          <p:cNvPicPr>
            <a:picLocks noChangeAspect="1"/>
          </p:cNvPicPr>
          <p:nvPr/>
        </p:nvPicPr>
        <p:blipFill>
          <a:blip r:embed="rId3"/>
          <a:stretch>
            <a:fillRect/>
          </a:stretch>
        </p:blipFill>
        <p:spPr>
          <a:xfrm>
            <a:off x="3131820" y="2446020"/>
            <a:ext cx="502920" cy="502920"/>
          </a:xfrm>
          <a:prstGeom prst="rect">
            <a:avLst/>
          </a:prstGeom>
        </p:spPr>
      </p:pic>
      <p:sp>
        <p:nvSpPr>
          <p:cNvPr id="11" name="Text 8"/>
          <p:cNvSpPr/>
          <p:nvPr/>
        </p:nvSpPr>
        <p:spPr>
          <a:xfrm>
            <a:off x="868680" y="3611880"/>
            <a:ext cx="4800600" cy="274320"/>
          </a:xfrm>
          <a:prstGeom prst="rect">
            <a:avLst/>
          </a:prstGeom>
          <a:noFill/>
          <a:ln/>
        </p:spPr>
        <p:txBody>
          <a:bodyPr wrap="square" rtlCol="0" anchor="ctr"/>
          <a:lstStyle/>
          <a:p>
            <a:pPr marL="0" indent="0">
              <a:buNone/>
            </a:pPr>
            <a:r>
              <a:rPr lang="en-US" sz="1100" b="1" kern="0" spc="100" dirty="0">
                <a:solidFill>
                  <a:srgbClr val="4C7FFF"/>
                </a:solidFill>
                <a:latin typeface="Calibri" pitchFamily="34" charset="0"/>
                <a:ea typeface="Calibri" pitchFamily="34" charset="-122"/>
                <a:cs typeface="Calibri" pitchFamily="34" charset="-120"/>
              </a:rPr>
              <a:t>PROJECT 01</a:t>
            </a:r>
            <a:endParaRPr lang="en-US" sz="1100" dirty="0"/>
          </a:p>
        </p:txBody>
      </p:sp>
      <p:sp>
        <p:nvSpPr>
          <p:cNvPr id="12" name="Text 9"/>
          <p:cNvSpPr/>
          <p:nvPr/>
        </p:nvSpPr>
        <p:spPr>
          <a:xfrm>
            <a:off x="868680" y="3840480"/>
            <a:ext cx="4800600" cy="411480"/>
          </a:xfrm>
          <a:prstGeom prst="rect">
            <a:avLst/>
          </a:prstGeom>
          <a:noFill/>
          <a:ln/>
        </p:spPr>
        <p:txBody>
          <a:bodyPr wrap="square" rtlCol="0" anchor="ctr"/>
          <a:lstStyle/>
          <a:p>
            <a:r>
              <a:rPr lang="en-IN" sz="2000" b="1" dirty="0">
                <a:solidFill>
                  <a:schemeClr val="accent1">
                    <a:lumMod val="50000"/>
                  </a:schemeClr>
                </a:solidFill>
              </a:rPr>
              <a:t>Data Analytics &amp; Exploratory Analysis</a:t>
            </a:r>
            <a:endParaRPr lang="en-US" sz="1900" b="1" dirty="0">
              <a:solidFill>
                <a:schemeClr val="accent1">
                  <a:lumMod val="50000"/>
                </a:schemeClr>
              </a:solidFill>
            </a:endParaRPr>
          </a:p>
        </p:txBody>
      </p:sp>
      <p:sp>
        <p:nvSpPr>
          <p:cNvPr id="13" name="Text 10"/>
          <p:cNvSpPr/>
          <p:nvPr/>
        </p:nvSpPr>
        <p:spPr>
          <a:xfrm>
            <a:off x="868680" y="4279392"/>
            <a:ext cx="4800600" cy="594360"/>
          </a:xfrm>
          <a:prstGeom prst="rect">
            <a:avLst/>
          </a:prstGeom>
          <a:noFill/>
          <a:ln/>
        </p:spPr>
        <p:txBody>
          <a:bodyPr wrap="square" rtlCol="0" anchor="ctr"/>
          <a:lstStyle/>
          <a:p>
            <a:r>
              <a:rPr lang="en-IN" sz="1100" dirty="0"/>
              <a:t>A practical learning activity focused on understanding the data analytics workflow, including data cleaning, preprocessing, exploratory data analysis, and extracting meaningful insights.</a:t>
            </a:r>
            <a:endParaRPr lang="en-US" sz="1100" dirty="0"/>
          </a:p>
        </p:txBody>
      </p:sp>
      <p:sp>
        <p:nvSpPr>
          <p:cNvPr id="14" name="Text 11"/>
          <p:cNvSpPr/>
          <p:nvPr/>
        </p:nvSpPr>
        <p:spPr>
          <a:xfrm>
            <a:off x="868680" y="4892040"/>
            <a:ext cx="4800600" cy="1280160"/>
          </a:xfrm>
          <a:prstGeom prst="rect">
            <a:avLst/>
          </a:prstGeom>
          <a:noFill/>
          <a:ln/>
        </p:spPr>
        <p:txBody>
          <a:bodyPr wrap="square" rtlCol="0" anchor="ctr"/>
          <a:lstStyle/>
          <a:p>
            <a:pPr marL="171450" lvl="0" indent="-171450">
              <a:buFont typeface="Arial" panose="020B0604020202020204" pitchFamily="34" charset="0"/>
              <a:buChar char="•"/>
            </a:pPr>
            <a:r>
              <a:rPr lang="en-IN" sz="1050" dirty="0"/>
              <a:t>Data Cleaning </a:t>
            </a:r>
          </a:p>
          <a:p>
            <a:pPr marL="171450" lvl="0" indent="-171450">
              <a:buFont typeface="Arial" panose="020B0604020202020204" pitchFamily="34" charset="0"/>
              <a:buChar char="•"/>
            </a:pPr>
            <a:r>
              <a:rPr lang="en-IN" sz="1050" dirty="0"/>
              <a:t>Data Preprocessing </a:t>
            </a:r>
          </a:p>
          <a:p>
            <a:pPr marL="171450" lvl="0" indent="-171450">
              <a:buFont typeface="Arial" panose="020B0604020202020204" pitchFamily="34" charset="0"/>
              <a:buChar char="•"/>
            </a:pPr>
            <a:r>
              <a:rPr lang="en-IN" sz="1050" dirty="0"/>
              <a:t>Exploratory Data Analysis </a:t>
            </a:r>
          </a:p>
          <a:p>
            <a:pPr marL="171450" lvl="0" indent="-171450">
              <a:buFont typeface="Arial" panose="020B0604020202020204" pitchFamily="34" charset="0"/>
              <a:buChar char="•"/>
            </a:pPr>
            <a:r>
              <a:rPr lang="en-IN" sz="1050" dirty="0"/>
              <a:t>Data Interpretation</a:t>
            </a:r>
          </a:p>
          <a:p>
            <a:pPr marL="342900" indent="-342900">
              <a:spcAft>
                <a:spcPts val="300"/>
              </a:spcAft>
              <a:buSzPct val="100000"/>
              <a:buChar char="▪"/>
            </a:pPr>
            <a:endParaRPr lang="en-US" sz="1050" dirty="0"/>
          </a:p>
        </p:txBody>
      </p:sp>
      <p:sp>
        <p:nvSpPr>
          <p:cNvPr id="15" name="Shape 12"/>
          <p:cNvSpPr/>
          <p:nvPr/>
        </p:nvSpPr>
        <p:spPr>
          <a:xfrm>
            <a:off x="6199632" y="1417320"/>
            <a:ext cx="5440680" cy="4892040"/>
          </a:xfrm>
          <a:prstGeom prst="roundRect">
            <a:avLst>
              <a:gd name="adj" fmla="val 2243"/>
            </a:avLst>
          </a:prstGeom>
          <a:solidFill>
            <a:srgbClr val="FFFFFF"/>
          </a:solidFill>
          <a:ln w="12700">
            <a:solidFill>
              <a:srgbClr val="CADCFC"/>
            </a:solidFill>
            <a:prstDash val="solid"/>
          </a:ln>
          <a:effectLst>
            <a:outerShdw blurRad="101600" dist="25400" dir="5400000" algn="bl" rotWithShape="0">
              <a:srgbClr val="1E2761">
                <a:alpha val="10000"/>
              </a:srgbClr>
            </a:outerShdw>
          </a:effectLst>
        </p:spPr>
      </p:sp>
      <p:sp>
        <p:nvSpPr>
          <p:cNvPr id="16" name="Shape 13"/>
          <p:cNvSpPr/>
          <p:nvPr/>
        </p:nvSpPr>
        <p:spPr>
          <a:xfrm>
            <a:off x="6519672" y="1691640"/>
            <a:ext cx="4800600" cy="1737360"/>
          </a:xfrm>
          <a:prstGeom prst="roundRect">
            <a:avLst>
              <a:gd name="adj" fmla="val 4211"/>
            </a:avLst>
          </a:prstGeom>
          <a:solidFill>
            <a:srgbClr val="1E2761"/>
          </a:solidFill>
          <a:ln/>
        </p:spPr>
      </p:sp>
      <p:sp>
        <p:nvSpPr>
          <p:cNvPr id="17" name="Shape 14"/>
          <p:cNvSpPr/>
          <p:nvPr/>
        </p:nvSpPr>
        <p:spPr>
          <a:xfrm>
            <a:off x="6702552" y="1828800"/>
            <a:ext cx="109728" cy="109728"/>
          </a:xfrm>
          <a:prstGeom prst="ellipse">
            <a:avLst/>
          </a:prstGeom>
          <a:solidFill>
            <a:srgbClr val="FF6B6B"/>
          </a:solidFill>
          <a:ln/>
        </p:spPr>
      </p:sp>
      <p:sp>
        <p:nvSpPr>
          <p:cNvPr id="18" name="Shape 15"/>
          <p:cNvSpPr/>
          <p:nvPr/>
        </p:nvSpPr>
        <p:spPr>
          <a:xfrm>
            <a:off x="6903720" y="1828800"/>
            <a:ext cx="109728" cy="109728"/>
          </a:xfrm>
          <a:prstGeom prst="ellipse">
            <a:avLst/>
          </a:prstGeom>
          <a:solidFill>
            <a:srgbClr val="FFD166"/>
          </a:solidFill>
          <a:ln/>
        </p:spPr>
      </p:sp>
      <p:sp>
        <p:nvSpPr>
          <p:cNvPr id="19" name="Shape 16"/>
          <p:cNvSpPr/>
          <p:nvPr/>
        </p:nvSpPr>
        <p:spPr>
          <a:xfrm>
            <a:off x="7104888" y="1828800"/>
            <a:ext cx="109728" cy="109728"/>
          </a:xfrm>
          <a:prstGeom prst="ellipse">
            <a:avLst/>
          </a:prstGeom>
          <a:solidFill>
            <a:srgbClr val="06D6A0"/>
          </a:solidFill>
          <a:ln/>
        </p:spPr>
      </p:sp>
      <p:sp>
        <p:nvSpPr>
          <p:cNvPr id="20" name="Shape 17"/>
          <p:cNvSpPr/>
          <p:nvPr/>
        </p:nvSpPr>
        <p:spPr>
          <a:xfrm>
            <a:off x="8577072" y="2240280"/>
            <a:ext cx="914400" cy="914400"/>
          </a:xfrm>
          <a:prstGeom prst="ellipse">
            <a:avLst/>
          </a:prstGeom>
          <a:solidFill>
            <a:srgbClr val="4C7FFF"/>
          </a:solidFill>
          <a:ln/>
        </p:spPr>
      </p:sp>
      <p:pic>
        <p:nvPicPr>
          <p:cNvPr id="21" name="Image 1" descr="/home/claude/pptx_work/icons/bank.png"/>
          <p:cNvPicPr>
            <a:picLocks noChangeAspect="1"/>
          </p:cNvPicPr>
          <p:nvPr/>
        </p:nvPicPr>
        <p:blipFill>
          <a:blip r:embed="rId4"/>
          <a:stretch>
            <a:fillRect/>
          </a:stretch>
        </p:blipFill>
        <p:spPr>
          <a:xfrm>
            <a:off x="8782812" y="2446020"/>
            <a:ext cx="502920" cy="502920"/>
          </a:xfrm>
          <a:prstGeom prst="rect">
            <a:avLst/>
          </a:prstGeom>
        </p:spPr>
      </p:pic>
      <p:sp>
        <p:nvSpPr>
          <p:cNvPr id="22" name="Text 18"/>
          <p:cNvSpPr/>
          <p:nvPr/>
        </p:nvSpPr>
        <p:spPr>
          <a:xfrm>
            <a:off x="6519672" y="3611880"/>
            <a:ext cx="4800600" cy="274320"/>
          </a:xfrm>
          <a:prstGeom prst="rect">
            <a:avLst/>
          </a:prstGeom>
          <a:noFill/>
          <a:ln/>
        </p:spPr>
        <p:txBody>
          <a:bodyPr wrap="square" rtlCol="0" anchor="ctr"/>
          <a:lstStyle/>
          <a:p>
            <a:pPr marL="0" indent="0">
              <a:buNone/>
            </a:pPr>
            <a:r>
              <a:rPr lang="en-US" sz="1100" b="1" kern="0" spc="100" dirty="0">
                <a:solidFill>
                  <a:srgbClr val="4C7FFF"/>
                </a:solidFill>
                <a:latin typeface="Calibri" pitchFamily="34" charset="0"/>
                <a:ea typeface="Calibri" pitchFamily="34" charset="-122"/>
                <a:cs typeface="Calibri" pitchFamily="34" charset="-120"/>
              </a:rPr>
              <a:t>PROJECT 02</a:t>
            </a:r>
            <a:endParaRPr lang="en-US" sz="1100" dirty="0"/>
          </a:p>
        </p:txBody>
      </p:sp>
      <p:sp>
        <p:nvSpPr>
          <p:cNvPr id="23" name="Text 19"/>
          <p:cNvSpPr/>
          <p:nvPr/>
        </p:nvSpPr>
        <p:spPr>
          <a:xfrm>
            <a:off x="6519672" y="3840480"/>
            <a:ext cx="4800600" cy="411480"/>
          </a:xfrm>
          <a:prstGeom prst="rect">
            <a:avLst/>
          </a:prstGeom>
          <a:noFill/>
          <a:ln/>
        </p:spPr>
        <p:txBody>
          <a:bodyPr wrap="square" rtlCol="0" anchor="ctr"/>
          <a:lstStyle/>
          <a:p>
            <a:r>
              <a:rPr lang="en-IN" sz="2000" b="1" dirty="0">
                <a:solidFill>
                  <a:schemeClr val="accent1">
                    <a:lumMod val="50000"/>
                  </a:schemeClr>
                </a:solidFill>
              </a:rPr>
              <a:t>Final Data Analytics with AI Project</a:t>
            </a:r>
            <a:endParaRPr lang="en-US" sz="1900" b="1" dirty="0">
              <a:solidFill>
                <a:schemeClr val="accent1">
                  <a:lumMod val="50000"/>
                </a:schemeClr>
              </a:solidFill>
            </a:endParaRPr>
          </a:p>
        </p:txBody>
      </p:sp>
      <p:sp>
        <p:nvSpPr>
          <p:cNvPr id="24" name="Text 20"/>
          <p:cNvSpPr/>
          <p:nvPr/>
        </p:nvSpPr>
        <p:spPr>
          <a:xfrm>
            <a:off x="6519672" y="4279392"/>
            <a:ext cx="4800600" cy="594360"/>
          </a:xfrm>
          <a:prstGeom prst="rect">
            <a:avLst/>
          </a:prstGeom>
          <a:noFill/>
          <a:ln/>
        </p:spPr>
        <p:txBody>
          <a:bodyPr wrap="square" rtlCol="0" anchor="ctr"/>
          <a:lstStyle/>
          <a:p>
            <a:pPr marL="0" indent="0">
              <a:lnSpc>
                <a:spcPct val="110000"/>
              </a:lnSpc>
              <a:buNone/>
            </a:pPr>
            <a:r>
              <a:rPr lang="en-US" sz="1100" dirty="0">
                <a:solidFill>
                  <a:srgbClr val="445068"/>
                </a:solidFill>
                <a:latin typeface="Calibri" pitchFamily="34" charset="0"/>
                <a:ea typeface="Calibri" pitchFamily="34" charset="-122"/>
                <a:cs typeface="Calibri" pitchFamily="34" charset="-120"/>
              </a:rPr>
              <a:t>A modern banking/financial website interface developed with a focus on clean UI and responsive design.</a:t>
            </a:r>
            <a:endParaRPr lang="en-US" sz="1100" dirty="0"/>
          </a:p>
        </p:txBody>
      </p:sp>
      <p:sp>
        <p:nvSpPr>
          <p:cNvPr id="25" name="Text 21"/>
          <p:cNvSpPr/>
          <p:nvPr/>
        </p:nvSpPr>
        <p:spPr>
          <a:xfrm>
            <a:off x="6519672" y="4892040"/>
            <a:ext cx="4800600" cy="1280160"/>
          </a:xfrm>
          <a:prstGeom prst="rect">
            <a:avLst/>
          </a:prstGeom>
          <a:noFill/>
          <a:ln/>
        </p:spPr>
        <p:txBody>
          <a:bodyPr wrap="square" rtlCol="0" anchor="ctr"/>
          <a:lstStyle/>
          <a:p>
            <a:pPr marL="171450" lvl="0" indent="-171450">
              <a:buFont typeface="Arial" panose="020B0604020202020204" pitchFamily="34" charset="0"/>
              <a:buChar char="•"/>
            </a:pPr>
            <a:r>
              <a:rPr lang="en-IN" sz="1050" dirty="0"/>
              <a:t>Data Analysis </a:t>
            </a:r>
          </a:p>
          <a:p>
            <a:pPr marL="171450" lvl="0" indent="-171450">
              <a:buFont typeface="Arial" panose="020B0604020202020204" pitchFamily="34" charset="0"/>
              <a:buChar char="•"/>
            </a:pPr>
            <a:r>
              <a:rPr lang="en-IN" sz="1050" dirty="0"/>
              <a:t>Predictive Analytics </a:t>
            </a:r>
          </a:p>
          <a:p>
            <a:pPr marL="171450" lvl="0" indent="-171450">
              <a:buFont typeface="Arial" panose="020B0604020202020204" pitchFamily="34" charset="0"/>
              <a:buChar char="•"/>
            </a:pPr>
            <a:r>
              <a:rPr lang="en-IN" sz="1050" dirty="0"/>
              <a:t>Machine Learning Concepts </a:t>
            </a:r>
          </a:p>
          <a:p>
            <a:pPr marL="171450" lvl="0" indent="-171450">
              <a:buFont typeface="Arial" panose="020B0604020202020204" pitchFamily="34" charset="0"/>
              <a:buChar char="•"/>
            </a:pPr>
            <a:r>
              <a:rPr lang="en-IN" sz="1050" dirty="0"/>
              <a:t>Visualization &amp; Insights </a:t>
            </a:r>
          </a:p>
          <a:p>
            <a:pPr marL="171450" lvl="0" indent="-171450">
              <a:buFont typeface="Arial" panose="020B0604020202020204" pitchFamily="34" charset="0"/>
              <a:buChar char="•"/>
            </a:pPr>
            <a:r>
              <a:rPr lang="en-IN" sz="1050" dirty="0"/>
              <a:t>Final Project Presentation</a:t>
            </a:r>
          </a:p>
          <a:p>
            <a:pPr marL="342900" indent="-342900">
              <a:spcAft>
                <a:spcPts val="300"/>
              </a:spcAft>
              <a:buSzPct val="100000"/>
              <a:buChar char="▪"/>
            </a:pPr>
            <a:endParaRPr lang="en-US" sz="1050" dirty="0"/>
          </a:p>
        </p:txBody>
      </p:sp>
      <p:sp>
        <p:nvSpPr>
          <p:cNvPr id="26" name="Text 2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698480" y="-1737360"/>
            <a:ext cx="3200400" cy="3200400"/>
          </a:xfrm>
          <a:prstGeom prst="ellipse">
            <a:avLst/>
          </a:prstGeom>
          <a:solidFill>
            <a:srgbClr val="141A45"/>
          </a:solidFill>
          <a:ln/>
        </p:spPr>
      </p:sp>
      <p:sp>
        <p:nvSpPr>
          <p:cNvPr id="3" name="Text 1"/>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08  ·  PROCESS</a:t>
            </a:r>
            <a:endParaRPr lang="en-US" sz="1200" dirty="0"/>
          </a:p>
        </p:txBody>
      </p:sp>
      <p:sp>
        <p:nvSpPr>
          <p:cNvPr id="4" name="Text 2"/>
          <p:cNvSpPr/>
          <p:nvPr/>
        </p:nvSpPr>
        <p:spPr>
          <a:xfrm>
            <a:off x="548640" y="1046988"/>
            <a:ext cx="9144000" cy="640080"/>
          </a:xfrm>
          <a:prstGeom prst="rect">
            <a:avLst/>
          </a:prstGeom>
          <a:noFill/>
          <a:ln/>
        </p:spPr>
        <p:txBody>
          <a:bodyPr wrap="square" rtlCol="0" anchor="ctr"/>
          <a:lstStyle/>
          <a:p>
            <a:r>
              <a:rPr lang="en-IN" sz="3200" b="1" dirty="0">
                <a:solidFill>
                  <a:schemeClr val="bg1"/>
                </a:solidFill>
              </a:rPr>
              <a:t>Data Analytics &amp; AI Learning Process</a:t>
            </a:r>
            <a:endParaRPr lang="en-US" sz="3200" b="1" dirty="0">
              <a:solidFill>
                <a:schemeClr val="bg1"/>
              </a:solidFill>
            </a:endParaRPr>
          </a:p>
        </p:txBody>
      </p:sp>
      <p:sp>
        <p:nvSpPr>
          <p:cNvPr id="5" name="Shape 3"/>
          <p:cNvSpPr/>
          <p:nvPr/>
        </p:nvSpPr>
        <p:spPr>
          <a:xfrm>
            <a:off x="933994" y="1874520"/>
            <a:ext cx="731520" cy="731520"/>
          </a:xfrm>
          <a:prstGeom prst="ellipse">
            <a:avLst/>
          </a:prstGeom>
          <a:solidFill>
            <a:srgbClr val="4C7FFF"/>
          </a:solidFill>
          <a:ln/>
        </p:spPr>
      </p:sp>
      <p:pic>
        <p:nvPicPr>
          <p:cNvPr id="6" name="Image 0" descr="/home/claude/pptx_work/icons/search.png"/>
          <p:cNvPicPr>
            <a:picLocks noChangeAspect="1"/>
          </p:cNvPicPr>
          <p:nvPr/>
        </p:nvPicPr>
        <p:blipFill>
          <a:blip r:embed="rId3"/>
          <a:stretch>
            <a:fillRect/>
          </a:stretch>
        </p:blipFill>
        <p:spPr>
          <a:xfrm>
            <a:off x="1098586" y="2039112"/>
            <a:ext cx="402336" cy="402336"/>
          </a:xfrm>
          <a:prstGeom prst="rect">
            <a:avLst/>
          </a:prstGeom>
        </p:spPr>
      </p:pic>
      <p:sp>
        <p:nvSpPr>
          <p:cNvPr id="7" name="Text 4"/>
          <p:cNvSpPr/>
          <p:nvPr/>
        </p:nvSpPr>
        <p:spPr>
          <a:xfrm>
            <a:off x="548640" y="2697480"/>
            <a:ext cx="1502229" cy="640080"/>
          </a:xfrm>
          <a:prstGeom prst="rect">
            <a:avLst/>
          </a:prstGeom>
          <a:noFill/>
          <a:ln/>
        </p:spPr>
        <p:txBody>
          <a:bodyPr wrap="square" rtlCol="0" anchor="t"/>
          <a:lstStyle/>
          <a:p>
            <a:pPr algn="ctr"/>
            <a:r>
              <a:rPr lang="en-IN" sz="1050" b="1" dirty="0">
                <a:solidFill>
                  <a:schemeClr val="bg1"/>
                </a:solidFill>
              </a:rPr>
              <a:t>Orientation &amp; Learning Plan</a:t>
            </a:r>
            <a:endParaRPr lang="en-US" sz="1050" b="1" dirty="0">
              <a:solidFill>
                <a:schemeClr val="bg1"/>
              </a:solidFill>
            </a:endParaRPr>
          </a:p>
        </p:txBody>
      </p:sp>
      <p:sp>
        <p:nvSpPr>
          <p:cNvPr id="8" name="Text 5"/>
          <p:cNvSpPr/>
          <p:nvPr/>
        </p:nvSpPr>
        <p:spPr>
          <a:xfrm>
            <a:off x="1683802" y="1965960"/>
            <a:ext cx="825573"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2527663" y="1874520"/>
            <a:ext cx="731520" cy="731520"/>
          </a:xfrm>
          <a:prstGeom prst="ellipse">
            <a:avLst/>
          </a:prstGeom>
          <a:solidFill>
            <a:srgbClr val="4C7FFF"/>
          </a:solidFill>
          <a:ln/>
        </p:spPr>
      </p:sp>
      <p:pic>
        <p:nvPicPr>
          <p:cNvPr id="10" name="Image 1" descr="/home/claude/pptx_work/icons/pencil-ruler.png"/>
          <p:cNvPicPr>
            <a:picLocks noChangeAspect="1"/>
          </p:cNvPicPr>
          <p:nvPr/>
        </p:nvPicPr>
        <p:blipFill>
          <a:blip r:embed="rId4"/>
          <a:stretch>
            <a:fillRect/>
          </a:stretch>
        </p:blipFill>
        <p:spPr>
          <a:xfrm>
            <a:off x="2692255" y="2039112"/>
            <a:ext cx="402336" cy="402336"/>
          </a:xfrm>
          <a:prstGeom prst="rect">
            <a:avLst/>
          </a:prstGeom>
        </p:spPr>
      </p:pic>
      <p:sp>
        <p:nvSpPr>
          <p:cNvPr id="11" name="Text 7"/>
          <p:cNvSpPr/>
          <p:nvPr/>
        </p:nvSpPr>
        <p:spPr>
          <a:xfrm>
            <a:off x="2142309" y="2697480"/>
            <a:ext cx="1502229" cy="640080"/>
          </a:xfrm>
          <a:prstGeom prst="rect">
            <a:avLst/>
          </a:prstGeom>
          <a:noFill/>
          <a:ln/>
        </p:spPr>
        <p:txBody>
          <a:bodyPr wrap="square" rtlCol="0" anchor="t"/>
          <a:lstStyle/>
          <a:p>
            <a:pPr algn="ctr"/>
            <a:r>
              <a:rPr lang="en-IN" sz="1050" b="1" dirty="0">
                <a:solidFill>
                  <a:schemeClr val="bg1"/>
                </a:solidFill>
              </a:rPr>
              <a:t>Data Cleaning &amp; Preprocessing</a:t>
            </a:r>
            <a:endParaRPr lang="en-US" sz="1050" b="1" dirty="0">
              <a:solidFill>
                <a:schemeClr val="bg1"/>
              </a:solidFill>
            </a:endParaRPr>
          </a:p>
        </p:txBody>
      </p:sp>
      <p:sp>
        <p:nvSpPr>
          <p:cNvPr id="12" name="Text 8"/>
          <p:cNvSpPr/>
          <p:nvPr/>
        </p:nvSpPr>
        <p:spPr>
          <a:xfrm>
            <a:off x="3277471" y="1965960"/>
            <a:ext cx="825573"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t>
            </a:r>
            <a:endParaRPr lang="en-US" sz="1800" dirty="0"/>
          </a:p>
        </p:txBody>
      </p:sp>
      <p:sp>
        <p:nvSpPr>
          <p:cNvPr id="13" name="Shape 9"/>
          <p:cNvSpPr/>
          <p:nvPr/>
        </p:nvSpPr>
        <p:spPr>
          <a:xfrm>
            <a:off x="4121331" y="1874520"/>
            <a:ext cx="731520" cy="731520"/>
          </a:xfrm>
          <a:prstGeom prst="ellipse">
            <a:avLst/>
          </a:prstGeom>
          <a:solidFill>
            <a:srgbClr val="4C7FFF"/>
          </a:solidFill>
          <a:ln/>
        </p:spPr>
      </p:sp>
      <p:pic>
        <p:nvPicPr>
          <p:cNvPr id="14" name="Image 2" descr="/home/claude/pptx_work/icons/layer-group.png"/>
          <p:cNvPicPr>
            <a:picLocks noChangeAspect="1"/>
          </p:cNvPicPr>
          <p:nvPr/>
        </p:nvPicPr>
        <p:blipFill>
          <a:blip r:embed="rId5"/>
          <a:stretch>
            <a:fillRect/>
          </a:stretch>
        </p:blipFill>
        <p:spPr>
          <a:xfrm>
            <a:off x="4285923" y="2039112"/>
            <a:ext cx="402336" cy="402336"/>
          </a:xfrm>
          <a:prstGeom prst="rect">
            <a:avLst/>
          </a:prstGeom>
        </p:spPr>
      </p:pic>
      <p:sp>
        <p:nvSpPr>
          <p:cNvPr id="15" name="Text 10"/>
          <p:cNvSpPr/>
          <p:nvPr/>
        </p:nvSpPr>
        <p:spPr>
          <a:xfrm>
            <a:off x="3735977" y="2697480"/>
            <a:ext cx="1502229" cy="640080"/>
          </a:xfrm>
          <a:prstGeom prst="rect">
            <a:avLst/>
          </a:prstGeom>
          <a:noFill/>
          <a:ln/>
        </p:spPr>
        <p:txBody>
          <a:bodyPr wrap="square" rtlCol="0" anchor="t"/>
          <a:lstStyle/>
          <a:p>
            <a:pPr algn="ctr"/>
            <a:r>
              <a:rPr lang="en-IN" sz="1050" b="1" dirty="0">
                <a:solidFill>
                  <a:schemeClr val="bg1"/>
                </a:solidFill>
              </a:rPr>
              <a:t>Exploratory Data Analysis (EDA)</a:t>
            </a:r>
            <a:endParaRPr lang="en-US" sz="1050" b="1" dirty="0">
              <a:solidFill>
                <a:schemeClr val="bg1"/>
              </a:solidFill>
            </a:endParaRPr>
          </a:p>
        </p:txBody>
      </p:sp>
      <p:sp>
        <p:nvSpPr>
          <p:cNvPr id="16" name="Text 11"/>
          <p:cNvSpPr/>
          <p:nvPr/>
        </p:nvSpPr>
        <p:spPr>
          <a:xfrm>
            <a:off x="4871139" y="1965960"/>
            <a:ext cx="825573"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t>
            </a:r>
            <a:endParaRPr lang="en-US" sz="1800" dirty="0"/>
          </a:p>
        </p:txBody>
      </p:sp>
      <p:sp>
        <p:nvSpPr>
          <p:cNvPr id="17" name="Shape 12"/>
          <p:cNvSpPr/>
          <p:nvPr/>
        </p:nvSpPr>
        <p:spPr>
          <a:xfrm>
            <a:off x="5715000" y="1874520"/>
            <a:ext cx="731520" cy="731520"/>
          </a:xfrm>
          <a:prstGeom prst="ellipse">
            <a:avLst/>
          </a:prstGeom>
          <a:solidFill>
            <a:srgbClr val="4C7FFF"/>
          </a:solidFill>
          <a:ln/>
        </p:spPr>
      </p:sp>
      <p:pic>
        <p:nvPicPr>
          <p:cNvPr id="18" name="Image 3" descr="/home/claude/pptx_work/icons/mobile-alt.png"/>
          <p:cNvPicPr>
            <a:picLocks noChangeAspect="1"/>
          </p:cNvPicPr>
          <p:nvPr/>
        </p:nvPicPr>
        <p:blipFill>
          <a:blip r:embed="rId6"/>
          <a:stretch>
            <a:fillRect/>
          </a:stretch>
        </p:blipFill>
        <p:spPr>
          <a:xfrm>
            <a:off x="5879592" y="2039112"/>
            <a:ext cx="402336" cy="402336"/>
          </a:xfrm>
          <a:prstGeom prst="rect">
            <a:avLst/>
          </a:prstGeom>
        </p:spPr>
      </p:pic>
      <p:sp>
        <p:nvSpPr>
          <p:cNvPr id="19" name="Text 13"/>
          <p:cNvSpPr/>
          <p:nvPr/>
        </p:nvSpPr>
        <p:spPr>
          <a:xfrm>
            <a:off x="5329646" y="2697480"/>
            <a:ext cx="1502229" cy="64008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Responsive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Implementation</a:t>
            </a:r>
            <a:endParaRPr lang="en-US" sz="1050" dirty="0"/>
          </a:p>
        </p:txBody>
      </p:sp>
      <p:sp>
        <p:nvSpPr>
          <p:cNvPr id="20" name="Text 14"/>
          <p:cNvSpPr/>
          <p:nvPr/>
        </p:nvSpPr>
        <p:spPr>
          <a:xfrm>
            <a:off x="6464808" y="1965960"/>
            <a:ext cx="825573"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t>
            </a:r>
            <a:endParaRPr lang="en-US" sz="1800" dirty="0"/>
          </a:p>
        </p:txBody>
      </p:sp>
      <p:sp>
        <p:nvSpPr>
          <p:cNvPr id="21" name="Shape 15"/>
          <p:cNvSpPr/>
          <p:nvPr/>
        </p:nvSpPr>
        <p:spPr>
          <a:xfrm>
            <a:off x="7308669" y="1874520"/>
            <a:ext cx="731520" cy="731520"/>
          </a:xfrm>
          <a:prstGeom prst="ellipse">
            <a:avLst/>
          </a:prstGeom>
          <a:solidFill>
            <a:srgbClr val="4C7FFF"/>
          </a:solidFill>
          <a:ln/>
        </p:spPr>
      </p:sp>
      <p:pic>
        <p:nvPicPr>
          <p:cNvPr id="22" name="Image 4" descr="/home/claude/pptx_work/icons/bolt.png"/>
          <p:cNvPicPr>
            <a:picLocks noChangeAspect="1"/>
          </p:cNvPicPr>
          <p:nvPr/>
        </p:nvPicPr>
        <p:blipFill>
          <a:blip r:embed="rId7"/>
          <a:stretch>
            <a:fillRect/>
          </a:stretch>
        </p:blipFill>
        <p:spPr>
          <a:xfrm>
            <a:off x="7473261" y="2039112"/>
            <a:ext cx="402336" cy="402336"/>
          </a:xfrm>
          <a:prstGeom prst="rect">
            <a:avLst/>
          </a:prstGeom>
        </p:spPr>
      </p:pic>
      <p:sp>
        <p:nvSpPr>
          <p:cNvPr id="23" name="Text 16"/>
          <p:cNvSpPr/>
          <p:nvPr/>
        </p:nvSpPr>
        <p:spPr>
          <a:xfrm>
            <a:off x="6923314" y="2697480"/>
            <a:ext cx="1502229" cy="64008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Interactive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Features</a:t>
            </a:r>
            <a:endParaRPr lang="en-US" sz="1050" dirty="0"/>
          </a:p>
        </p:txBody>
      </p:sp>
      <p:sp>
        <p:nvSpPr>
          <p:cNvPr id="24" name="Text 17"/>
          <p:cNvSpPr/>
          <p:nvPr/>
        </p:nvSpPr>
        <p:spPr>
          <a:xfrm>
            <a:off x="8058477" y="1965960"/>
            <a:ext cx="825573"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t>
            </a:r>
            <a:endParaRPr lang="en-US" sz="1800" dirty="0"/>
          </a:p>
        </p:txBody>
      </p:sp>
      <p:sp>
        <p:nvSpPr>
          <p:cNvPr id="25" name="Shape 18"/>
          <p:cNvSpPr/>
          <p:nvPr/>
        </p:nvSpPr>
        <p:spPr>
          <a:xfrm>
            <a:off x="8902337" y="1874520"/>
            <a:ext cx="731520" cy="731520"/>
          </a:xfrm>
          <a:prstGeom prst="ellipse">
            <a:avLst/>
          </a:prstGeom>
          <a:solidFill>
            <a:srgbClr val="4C7FFF"/>
          </a:solidFill>
          <a:ln/>
        </p:spPr>
      </p:sp>
      <p:pic>
        <p:nvPicPr>
          <p:cNvPr id="26" name="Image 5" descr="/home/claude/pptx_work/icons/bug.png"/>
          <p:cNvPicPr>
            <a:picLocks noChangeAspect="1"/>
          </p:cNvPicPr>
          <p:nvPr/>
        </p:nvPicPr>
        <p:blipFill>
          <a:blip r:embed="rId8"/>
          <a:stretch>
            <a:fillRect/>
          </a:stretch>
        </p:blipFill>
        <p:spPr>
          <a:xfrm>
            <a:off x="9066929" y="2039112"/>
            <a:ext cx="402336" cy="402336"/>
          </a:xfrm>
          <a:prstGeom prst="rect">
            <a:avLst/>
          </a:prstGeom>
        </p:spPr>
      </p:pic>
      <p:sp>
        <p:nvSpPr>
          <p:cNvPr id="27" name="Text 19"/>
          <p:cNvSpPr/>
          <p:nvPr/>
        </p:nvSpPr>
        <p:spPr>
          <a:xfrm>
            <a:off x="8516983" y="2697480"/>
            <a:ext cx="1502229" cy="64008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Testing &amp;</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Debugging</a:t>
            </a:r>
            <a:endParaRPr lang="en-US" sz="1050" dirty="0"/>
          </a:p>
        </p:txBody>
      </p:sp>
      <p:sp>
        <p:nvSpPr>
          <p:cNvPr id="28" name="Text 20"/>
          <p:cNvSpPr/>
          <p:nvPr/>
        </p:nvSpPr>
        <p:spPr>
          <a:xfrm>
            <a:off x="9652145" y="1965960"/>
            <a:ext cx="825573"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t>
            </a:r>
            <a:endParaRPr lang="en-US" sz="1800" dirty="0"/>
          </a:p>
        </p:txBody>
      </p:sp>
      <p:sp>
        <p:nvSpPr>
          <p:cNvPr id="29" name="Shape 21"/>
          <p:cNvSpPr/>
          <p:nvPr/>
        </p:nvSpPr>
        <p:spPr>
          <a:xfrm>
            <a:off x="10496006" y="1874520"/>
            <a:ext cx="731520" cy="731520"/>
          </a:xfrm>
          <a:prstGeom prst="ellipse">
            <a:avLst/>
          </a:prstGeom>
          <a:solidFill>
            <a:srgbClr val="4C7FFF"/>
          </a:solidFill>
          <a:ln/>
        </p:spPr>
      </p:sp>
      <p:pic>
        <p:nvPicPr>
          <p:cNvPr id="30" name="Image 6" descr="/home/claude/pptx_work/icons/rocket.png"/>
          <p:cNvPicPr>
            <a:picLocks noChangeAspect="1"/>
          </p:cNvPicPr>
          <p:nvPr/>
        </p:nvPicPr>
        <p:blipFill>
          <a:blip r:embed="rId9"/>
          <a:stretch>
            <a:fillRect/>
          </a:stretch>
        </p:blipFill>
        <p:spPr>
          <a:xfrm>
            <a:off x="10660598" y="2039112"/>
            <a:ext cx="402336" cy="402336"/>
          </a:xfrm>
          <a:prstGeom prst="rect">
            <a:avLst/>
          </a:prstGeom>
        </p:spPr>
      </p:pic>
      <p:sp>
        <p:nvSpPr>
          <p:cNvPr id="31" name="Text 22"/>
          <p:cNvSpPr/>
          <p:nvPr/>
        </p:nvSpPr>
        <p:spPr>
          <a:xfrm>
            <a:off x="10110651" y="2697480"/>
            <a:ext cx="1502229" cy="640080"/>
          </a:xfrm>
          <a:prstGeom prst="rect">
            <a:avLst/>
          </a:prstGeom>
          <a:noFill/>
          <a:ln/>
        </p:spPr>
        <p:txBody>
          <a:bodyPr wrap="square"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Final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Optimization</a:t>
            </a:r>
            <a:endParaRPr lang="en-US" sz="1050" dirty="0"/>
          </a:p>
        </p:txBody>
      </p:sp>
      <p:sp>
        <p:nvSpPr>
          <p:cNvPr id="32" name="Shape 23"/>
          <p:cNvSpPr/>
          <p:nvPr/>
        </p:nvSpPr>
        <p:spPr>
          <a:xfrm>
            <a:off x="548640" y="3794760"/>
            <a:ext cx="11091672" cy="2286000"/>
          </a:xfrm>
          <a:prstGeom prst="roundRect">
            <a:avLst>
              <a:gd name="adj" fmla="val 4800"/>
            </a:avLst>
          </a:prstGeom>
          <a:solidFill>
            <a:srgbClr val="141A45"/>
          </a:solidFill>
          <a:ln/>
        </p:spPr>
      </p:sp>
      <p:sp>
        <p:nvSpPr>
          <p:cNvPr id="33" name="Text 24"/>
          <p:cNvSpPr/>
          <p:nvPr/>
        </p:nvSpPr>
        <p:spPr>
          <a:xfrm>
            <a:off x="914400" y="4069080"/>
            <a:ext cx="5486400" cy="274320"/>
          </a:xfrm>
          <a:prstGeom prst="rect">
            <a:avLst/>
          </a:prstGeom>
          <a:noFill/>
          <a:ln/>
        </p:spPr>
        <p:txBody>
          <a:bodyPr wrap="square" rtlCol="0" anchor="ctr"/>
          <a:lstStyle/>
          <a:p>
            <a:pPr marL="0" indent="0">
              <a:buNone/>
            </a:pPr>
            <a:r>
              <a:rPr lang="en-US" sz="1200" b="1" kern="0" spc="150" dirty="0">
                <a:solidFill>
                  <a:srgbClr val="4C7FFF"/>
                </a:solidFill>
                <a:latin typeface="Calibri" pitchFamily="34" charset="0"/>
                <a:ea typeface="Calibri" pitchFamily="34" charset="-122"/>
                <a:cs typeface="Calibri" pitchFamily="34" charset="-120"/>
              </a:rPr>
              <a:t>WHY THIS MATTERS</a:t>
            </a:r>
            <a:endParaRPr lang="en-US" sz="1200" dirty="0"/>
          </a:p>
        </p:txBody>
      </p:sp>
      <p:sp>
        <p:nvSpPr>
          <p:cNvPr id="34" name="Text 25"/>
          <p:cNvSpPr/>
          <p:nvPr/>
        </p:nvSpPr>
        <p:spPr>
          <a:xfrm>
            <a:off x="914400" y="4434840"/>
            <a:ext cx="10332720" cy="1463040"/>
          </a:xfrm>
          <a:prstGeom prst="rect">
            <a:avLst/>
          </a:prstGeom>
          <a:noFill/>
          <a:ln/>
        </p:spPr>
        <p:txBody>
          <a:bodyPr wrap="square" rtlCol="0" anchor="ctr"/>
          <a:lstStyle/>
          <a:p>
            <a:r>
              <a:rPr lang="en-IN" sz="1600" dirty="0">
                <a:solidFill>
                  <a:schemeClr val="bg1"/>
                </a:solidFill>
              </a:rPr>
              <a:t>I followed a structured learning process that progressed from understanding data and preparing it for analysis to applying analytical and machine-learning concepts, generating visualizations and AI-driven insights, and finally developing and presenting the project.</a:t>
            </a:r>
            <a:endParaRPr lang="en-US" sz="1500" dirty="0">
              <a:solidFill>
                <a:schemeClr val="bg1"/>
              </a:solidFill>
            </a:endParaRPr>
          </a:p>
        </p:txBody>
      </p:sp>
      <p:sp>
        <p:nvSpPr>
          <p:cNvPr id="35"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09  ·  PROBLEM SOLVING</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Challenges &amp; Solutions</a:t>
            </a:r>
            <a:endParaRPr lang="en-US" sz="3200" dirty="0"/>
          </a:p>
        </p:txBody>
      </p:sp>
      <p:sp>
        <p:nvSpPr>
          <p:cNvPr id="4" name="Text 2"/>
          <p:cNvSpPr/>
          <p:nvPr/>
        </p:nvSpPr>
        <p:spPr>
          <a:xfrm>
            <a:off x="1280160" y="1417320"/>
            <a:ext cx="4480560" cy="274320"/>
          </a:xfrm>
          <a:prstGeom prst="rect">
            <a:avLst/>
          </a:prstGeom>
          <a:noFill/>
          <a:ln/>
        </p:spPr>
        <p:txBody>
          <a:bodyPr wrap="square" rtlCol="0" anchor="ctr"/>
          <a:lstStyle/>
          <a:p>
            <a:pPr marL="0" indent="0">
              <a:buNone/>
            </a:pPr>
            <a:r>
              <a:rPr lang="en-US" sz="1150" b="1" kern="0" spc="100" dirty="0">
                <a:solidFill>
                  <a:srgbClr val="1E2761"/>
                </a:solidFill>
                <a:latin typeface="Calibri" pitchFamily="34" charset="0"/>
                <a:ea typeface="Calibri" pitchFamily="34" charset="-122"/>
                <a:cs typeface="Calibri" pitchFamily="34" charset="-120"/>
              </a:rPr>
              <a:t>CHALLENGE</a:t>
            </a:r>
            <a:endParaRPr lang="en-US" sz="1150" dirty="0"/>
          </a:p>
        </p:txBody>
      </p:sp>
      <p:sp>
        <p:nvSpPr>
          <p:cNvPr id="5" name="Text 3"/>
          <p:cNvSpPr/>
          <p:nvPr/>
        </p:nvSpPr>
        <p:spPr>
          <a:xfrm>
            <a:off x="6400800" y="1417320"/>
            <a:ext cx="5120640" cy="274320"/>
          </a:xfrm>
          <a:prstGeom prst="rect">
            <a:avLst/>
          </a:prstGeom>
          <a:noFill/>
          <a:ln/>
        </p:spPr>
        <p:txBody>
          <a:bodyPr wrap="square" rtlCol="0" anchor="ctr"/>
          <a:lstStyle/>
          <a:p>
            <a:pPr marL="0" indent="0">
              <a:buNone/>
            </a:pPr>
            <a:r>
              <a:rPr lang="en-US" sz="1150" b="1" kern="0" spc="100" dirty="0">
                <a:solidFill>
                  <a:srgbClr val="1E2761"/>
                </a:solidFill>
                <a:latin typeface="Calibri" pitchFamily="34" charset="0"/>
                <a:ea typeface="Calibri" pitchFamily="34" charset="-122"/>
                <a:cs typeface="Calibri" pitchFamily="34" charset="-120"/>
              </a:rPr>
              <a:t>SOLUTION</a:t>
            </a:r>
            <a:endParaRPr lang="en-US" sz="1150" dirty="0"/>
          </a:p>
        </p:txBody>
      </p:sp>
      <p:sp>
        <p:nvSpPr>
          <p:cNvPr id="6" name="Shape 4"/>
          <p:cNvSpPr/>
          <p:nvPr/>
        </p:nvSpPr>
        <p:spPr>
          <a:xfrm>
            <a:off x="548640" y="1783080"/>
            <a:ext cx="5212080" cy="786384"/>
          </a:xfrm>
          <a:prstGeom prst="roundRect">
            <a:avLst>
              <a:gd name="adj" fmla="val 9302"/>
            </a:avLst>
          </a:prstGeom>
          <a:solidFill>
            <a:srgbClr val="FFFFFF"/>
          </a:solidFill>
          <a:ln w="12700">
            <a:solidFill>
              <a:srgbClr val="CADCFC"/>
            </a:solidFill>
            <a:prstDash val="solid"/>
          </a:ln>
        </p:spPr>
      </p:sp>
      <p:sp>
        <p:nvSpPr>
          <p:cNvPr id="7" name="Shape 5"/>
          <p:cNvSpPr/>
          <p:nvPr/>
        </p:nvSpPr>
        <p:spPr>
          <a:xfrm>
            <a:off x="713232" y="1956816"/>
            <a:ext cx="438912" cy="438912"/>
          </a:xfrm>
          <a:prstGeom prst="ellipse">
            <a:avLst/>
          </a:prstGeom>
          <a:solidFill>
            <a:srgbClr val="1E2761"/>
          </a:solidFill>
          <a:ln/>
        </p:spPr>
      </p:sp>
      <p:pic>
        <p:nvPicPr>
          <p:cNvPr id="8" name="Image 0" descr="/home/claude/pptx_work/icons/bug.png"/>
          <p:cNvPicPr>
            <a:picLocks noChangeAspect="1"/>
          </p:cNvPicPr>
          <p:nvPr/>
        </p:nvPicPr>
        <p:blipFill>
          <a:blip r:embed="rId3"/>
          <a:stretch>
            <a:fillRect/>
          </a:stretch>
        </p:blipFill>
        <p:spPr>
          <a:xfrm>
            <a:off x="811987" y="2055571"/>
            <a:ext cx="241402" cy="241402"/>
          </a:xfrm>
          <a:prstGeom prst="rect">
            <a:avLst/>
          </a:prstGeom>
        </p:spPr>
      </p:pic>
      <p:sp>
        <p:nvSpPr>
          <p:cNvPr id="9" name="Text 6"/>
          <p:cNvSpPr/>
          <p:nvPr/>
        </p:nvSpPr>
        <p:spPr>
          <a:xfrm>
            <a:off x="1280160" y="1783080"/>
            <a:ext cx="434340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Creating responsive layouts</a:t>
            </a:r>
            <a:endParaRPr lang="en-US" sz="1150" dirty="0"/>
          </a:p>
        </p:txBody>
      </p:sp>
      <p:sp>
        <p:nvSpPr>
          <p:cNvPr id="10" name="Text 7"/>
          <p:cNvSpPr/>
          <p:nvPr/>
        </p:nvSpPr>
        <p:spPr>
          <a:xfrm>
            <a:off x="5806440" y="1783080"/>
            <a:ext cx="502920" cy="786384"/>
          </a:xfrm>
          <a:prstGeom prst="rect">
            <a:avLst/>
          </a:prstGeom>
          <a:noFill/>
          <a:ln/>
        </p:spPr>
        <p:txBody>
          <a:bodyPr wrap="square" rtlCol="0" anchor="ctr"/>
          <a:lstStyle/>
          <a:p>
            <a:pPr marL="0" indent="0" algn="ctr">
              <a:buNone/>
            </a:pPr>
            <a:r>
              <a:rPr lang="en-US" sz="1800" dirty="0">
                <a:solidFill>
                  <a:srgbClr val="4C7FFF"/>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6400800" y="1783080"/>
            <a:ext cx="5239512" cy="786384"/>
          </a:xfrm>
          <a:prstGeom prst="roundRect">
            <a:avLst>
              <a:gd name="adj" fmla="val 9302"/>
            </a:avLst>
          </a:prstGeom>
          <a:solidFill>
            <a:srgbClr val="FFFFFF"/>
          </a:solidFill>
          <a:ln w="12700">
            <a:solidFill>
              <a:srgbClr val="CADCFC"/>
            </a:solidFill>
            <a:prstDash val="solid"/>
          </a:ln>
        </p:spPr>
      </p:sp>
      <p:sp>
        <p:nvSpPr>
          <p:cNvPr id="12" name="Shape 9"/>
          <p:cNvSpPr/>
          <p:nvPr/>
        </p:nvSpPr>
        <p:spPr>
          <a:xfrm>
            <a:off x="6565392" y="1956816"/>
            <a:ext cx="438912" cy="438912"/>
          </a:xfrm>
          <a:prstGeom prst="ellipse">
            <a:avLst/>
          </a:prstGeom>
          <a:solidFill>
            <a:srgbClr val="4C7FFF"/>
          </a:solidFill>
          <a:ln/>
        </p:spPr>
      </p:sp>
      <p:pic>
        <p:nvPicPr>
          <p:cNvPr id="13" name="Image 1" descr="/home/claude/pptx_work/icons/check-circle.png"/>
          <p:cNvPicPr>
            <a:picLocks noChangeAspect="1"/>
          </p:cNvPicPr>
          <p:nvPr/>
        </p:nvPicPr>
        <p:blipFill>
          <a:blip r:embed="rId4"/>
          <a:stretch>
            <a:fillRect/>
          </a:stretch>
        </p:blipFill>
        <p:spPr>
          <a:xfrm>
            <a:off x="6664147" y="2055571"/>
            <a:ext cx="241402" cy="241402"/>
          </a:xfrm>
          <a:prstGeom prst="rect">
            <a:avLst/>
          </a:prstGeom>
        </p:spPr>
      </p:pic>
      <p:sp>
        <p:nvSpPr>
          <p:cNvPr id="14" name="Text 10"/>
          <p:cNvSpPr/>
          <p:nvPr/>
        </p:nvSpPr>
        <p:spPr>
          <a:xfrm>
            <a:off x="7132320" y="1783080"/>
            <a:ext cx="438912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Used responsive CSS techniques and flexible layouts</a:t>
            </a:r>
            <a:endParaRPr lang="en-US" sz="1150" dirty="0"/>
          </a:p>
        </p:txBody>
      </p:sp>
      <p:sp>
        <p:nvSpPr>
          <p:cNvPr id="15" name="Shape 11"/>
          <p:cNvSpPr/>
          <p:nvPr/>
        </p:nvSpPr>
        <p:spPr>
          <a:xfrm>
            <a:off x="548640" y="2679192"/>
            <a:ext cx="5212080" cy="786384"/>
          </a:xfrm>
          <a:prstGeom prst="roundRect">
            <a:avLst>
              <a:gd name="adj" fmla="val 9302"/>
            </a:avLst>
          </a:prstGeom>
          <a:solidFill>
            <a:srgbClr val="FFFFFF"/>
          </a:solidFill>
          <a:ln w="12700">
            <a:solidFill>
              <a:srgbClr val="CADCFC"/>
            </a:solidFill>
            <a:prstDash val="solid"/>
          </a:ln>
        </p:spPr>
      </p:sp>
      <p:sp>
        <p:nvSpPr>
          <p:cNvPr id="16" name="Shape 12"/>
          <p:cNvSpPr/>
          <p:nvPr/>
        </p:nvSpPr>
        <p:spPr>
          <a:xfrm>
            <a:off x="713232" y="2852928"/>
            <a:ext cx="438912" cy="438912"/>
          </a:xfrm>
          <a:prstGeom prst="ellipse">
            <a:avLst/>
          </a:prstGeom>
          <a:solidFill>
            <a:srgbClr val="1E2761"/>
          </a:solidFill>
          <a:ln/>
        </p:spPr>
      </p:sp>
      <p:pic>
        <p:nvPicPr>
          <p:cNvPr id="17" name="Image 2" descr="/home/claude/pptx_work/icons/bug.png"/>
          <p:cNvPicPr>
            <a:picLocks noChangeAspect="1"/>
          </p:cNvPicPr>
          <p:nvPr/>
        </p:nvPicPr>
        <p:blipFill>
          <a:blip r:embed="rId3"/>
          <a:stretch>
            <a:fillRect/>
          </a:stretch>
        </p:blipFill>
        <p:spPr>
          <a:xfrm>
            <a:off x="811987" y="2951683"/>
            <a:ext cx="241402" cy="241402"/>
          </a:xfrm>
          <a:prstGeom prst="rect">
            <a:avLst/>
          </a:prstGeom>
        </p:spPr>
      </p:pic>
      <p:sp>
        <p:nvSpPr>
          <p:cNvPr id="18" name="Text 13"/>
          <p:cNvSpPr/>
          <p:nvPr/>
        </p:nvSpPr>
        <p:spPr>
          <a:xfrm>
            <a:off x="1280160" y="2679192"/>
            <a:ext cx="434340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Maintaining consistent UI</a:t>
            </a:r>
            <a:endParaRPr lang="en-US" sz="1150" dirty="0"/>
          </a:p>
        </p:txBody>
      </p:sp>
      <p:sp>
        <p:nvSpPr>
          <p:cNvPr id="19" name="Text 14"/>
          <p:cNvSpPr/>
          <p:nvPr/>
        </p:nvSpPr>
        <p:spPr>
          <a:xfrm>
            <a:off x="5806440" y="2679192"/>
            <a:ext cx="502920" cy="786384"/>
          </a:xfrm>
          <a:prstGeom prst="rect">
            <a:avLst/>
          </a:prstGeom>
          <a:noFill/>
          <a:ln/>
        </p:spPr>
        <p:txBody>
          <a:bodyPr wrap="square" rtlCol="0" anchor="ctr"/>
          <a:lstStyle/>
          <a:p>
            <a:pPr marL="0" indent="0" algn="ctr">
              <a:buNone/>
            </a:pPr>
            <a:r>
              <a:rPr lang="en-US" sz="1800" dirty="0">
                <a:solidFill>
                  <a:srgbClr val="4C7FFF"/>
                </a:solidFill>
                <a:latin typeface="Calibri" pitchFamily="34" charset="0"/>
                <a:ea typeface="Calibri" pitchFamily="34" charset="-122"/>
                <a:cs typeface="Calibri" pitchFamily="34" charset="-120"/>
              </a:rPr>
              <a:t>→</a:t>
            </a:r>
            <a:endParaRPr lang="en-US" sz="1800" dirty="0"/>
          </a:p>
        </p:txBody>
      </p:sp>
      <p:sp>
        <p:nvSpPr>
          <p:cNvPr id="20" name="Shape 15"/>
          <p:cNvSpPr/>
          <p:nvPr/>
        </p:nvSpPr>
        <p:spPr>
          <a:xfrm>
            <a:off x="6400800" y="2679192"/>
            <a:ext cx="5239512" cy="786384"/>
          </a:xfrm>
          <a:prstGeom prst="roundRect">
            <a:avLst>
              <a:gd name="adj" fmla="val 9302"/>
            </a:avLst>
          </a:prstGeom>
          <a:solidFill>
            <a:srgbClr val="FFFFFF"/>
          </a:solidFill>
          <a:ln w="12700">
            <a:solidFill>
              <a:srgbClr val="CADCFC"/>
            </a:solidFill>
            <a:prstDash val="solid"/>
          </a:ln>
        </p:spPr>
      </p:sp>
      <p:sp>
        <p:nvSpPr>
          <p:cNvPr id="21" name="Shape 16"/>
          <p:cNvSpPr/>
          <p:nvPr/>
        </p:nvSpPr>
        <p:spPr>
          <a:xfrm>
            <a:off x="6565392" y="2852928"/>
            <a:ext cx="438912" cy="438912"/>
          </a:xfrm>
          <a:prstGeom prst="ellipse">
            <a:avLst/>
          </a:prstGeom>
          <a:solidFill>
            <a:srgbClr val="4C7FFF"/>
          </a:solidFill>
          <a:ln/>
        </p:spPr>
      </p:sp>
      <p:pic>
        <p:nvPicPr>
          <p:cNvPr id="22" name="Image 3" descr="/home/claude/pptx_work/icons/check-circle.png"/>
          <p:cNvPicPr>
            <a:picLocks noChangeAspect="1"/>
          </p:cNvPicPr>
          <p:nvPr/>
        </p:nvPicPr>
        <p:blipFill>
          <a:blip r:embed="rId4"/>
          <a:stretch>
            <a:fillRect/>
          </a:stretch>
        </p:blipFill>
        <p:spPr>
          <a:xfrm>
            <a:off x="6664147" y="2951683"/>
            <a:ext cx="241402" cy="241402"/>
          </a:xfrm>
          <a:prstGeom prst="rect">
            <a:avLst/>
          </a:prstGeom>
        </p:spPr>
      </p:pic>
      <p:sp>
        <p:nvSpPr>
          <p:cNvPr id="23" name="Text 17"/>
          <p:cNvSpPr/>
          <p:nvPr/>
        </p:nvSpPr>
        <p:spPr>
          <a:xfrm>
            <a:off x="7132320" y="2679192"/>
            <a:ext cx="438912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Used reusable components and consistent styling</a:t>
            </a:r>
            <a:endParaRPr lang="en-US" sz="1150" dirty="0"/>
          </a:p>
        </p:txBody>
      </p:sp>
      <p:sp>
        <p:nvSpPr>
          <p:cNvPr id="24" name="Shape 18"/>
          <p:cNvSpPr/>
          <p:nvPr/>
        </p:nvSpPr>
        <p:spPr>
          <a:xfrm>
            <a:off x="548640" y="3575304"/>
            <a:ext cx="5212080" cy="786384"/>
          </a:xfrm>
          <a:prstGeom prst="roundRect">
            <a:avLst>
              <a:gd name="adj" fmla="val 9302"/>
            </a:avLst>
          </a:prstGeom>
          <a:solidFill>
            <a:srgbClr val="FFFFFF"/>
          </a:solidFill>
          <a:ln w="12700">
            <a:solidFill>
              <a:srgbClr val="CADCFC"/>
            </a:solidFill>
            <a:prstDash val="solid"/>
          </a:ln>
        </p:spPr>
      </p:sp>
      <p:sp>
        <p:nvSpPr>
          <p:cNvPr id="25" name="Shape 19"/>
          <p:cNvSpPr/>
          <p:nvPr/>
        </p:nvSpPr>
        <p:spPr>
          <a:xfrm>
            <a:off x="713232" y="3749040"/>
            <a:ext cx="438912" cy="438912"/>
          </a:xfrm>
          <a:prstGeom prst="ellipse">
            <a:avLst/>
          </a:prstGeom>
          <a:solidFill>
            <a:srgbClr val="1E2761"/>
          </a:solidFill>
          <a:ln/>
        </p:spPr>
      </p:sp>
      <p:pic>
        <p:nvPicPr>
          <p:cNvPr id="26" name="Image 4" descr="/home/claude/pptx_work/icons/bug.png"/>
          <p:cNvPicPr>
            <a:picLocks noChangeAspect="1"/>
          </p:cNvPicPr>
          <p:nvPr/>
        </p:nvPicPr>
        <p:blipFill>
          <a:blip r:embed="rId3"/>
          <a:stretch>
            <a:fillRect/>
          </a:stretch>
        </p:blipFill>
        <p:spPr>
          <a:xfrm>
            <a:off x="811987" y="3847795"/>
            <a:ext cx="241402" cy="241402"/>
          </a:xfrm>
          <a:prstGeom prst="rect">
            <a:avLst/>
          </a:prstGeom>
        </p:spPr>
      </p:pic>
      <p:sp>
        <p:nvSpPr>
          <p:cNvPr id="27" name="Text 20"/>
          <p:cNvSpPr/>
          <p:nvPr/>
        </p:nvSpPr>
        <p:spPr>
          <a:xfrm>
            <a:off x="1280160" y="3575304"/>
            <a:ext cx="434340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Implementing interactive features</a:t>
            </a:r>
            <a:endParaRPr lang="en-US" sz="1150" dirty="0"/>
          </a:p>
        </p:txBody>
      </p:sp>
      <p:sp>
        <p:nvSpPr>
          <p:cNvPr id="28" name="Text 21"/>
          <p:cNvSpPr/>
          <p:nvPr/>
        </p:nvSpPr>
        <p:spPr>
          <a:xfrm>
            <a:off x="5806440" y="3575304"/>
            <a:ext cx="502920" cy="786384"/>
          </a:xfrm>
          <a:prstGeom prst="rect">
            <a:avLst/>
          </a:prstGeom>
          <a:noFill/>
          <a:ln/>
        </p:spPr>
        <p:txBody>
          <a:bodyPr wrap="square" rtlCol="0" anchor="ctr"/>
          <a:lstStyle/>
          <a:p>
            <a:pPr marL="0" indent="0" algn="ctr">
              <a:buNone/>
            </a:pPr>
            <a:r>
              <a:rPr lang="en-US" sz="1800" dirty="0">
                <a:solidFill>
                  <a:srgbClr val="4C7FFF"/>
                </a:solidFill>
                <a:latin typeface="Calibri" pitchFamily="34" charset="0"/>
                <a:ea typeface="Calibri" pitchFamily="34" charset="-122"/>
                <a:cs typeface="Calibri" pitchFamily="34" charset="-120"/>
              </a:rPr>
              <a:t>→</a:t>
            </a:r>
            <a:endParaRPr lang="en-US" sz="1800" dirty="0"/>
          </a:p>
        </p:txBody>
      </p:sp>
      <p:sp>
        <p:nvSpPr>
          <p:cNvPr id="29" name="Shape 22"/>
          <p:cNvSpPr/>
          <p:nvPr/>
        </p:nvSpPr>
        <p:spPr>
          <a:xfrm>
            <a:off x="6400800" y="3575304"/>
            <a:ext cx="5239512" cy="786384"/>
          </a:xfrm>
          <a:prstGeom prst="roundRect">
            <a:avLst>
              <a:gd name="adj" fmla="val 9302"/>
            </a:avLst>
          </a:prstGeom>
          <a:solidFill>
            <a:srgbClr val="FFFFFF"/>
          </a:solidFill>
          <a:ln w="12700">
            <a:solidFill>
              <a:srgbClr val="CADCFC"/>
            </a:solidFill>
            <a:prstDash val="solid"/>
          </a:ln>
        </p:spPr>
      </p:sp>
      <p:sp>
        <p:nvSpPr>
          <p:cNvPr id="30" name="Shape 23"/>
          <p:cNvSpPr/>
          <p:nvPr/>
        </p:nvSpPr>
        <p:spPr>
          <a:xfrm>
            <a:off x="6565392" y="3749040"/>
            <a:ext cx="438912" cy="438912"/>
          </a:xfrm>
          <a:prstGeom prst="ellipse">
            <a:avLst/>
          </a:prstGeom>
          <a:solidFill>
            <a:srgbClr val="4C7FFF"/>
          </a:solidFill>
          <a:ln/>
        </p:spPr>
      </p:sp>
      <p:pic>
        <p:nvPicPr>
          <p:cNvPr id="31" name="Image 5" descr="/home/claude/pptx_work/icons/check-circle.png"/>
          <p:cNvPicPr>
            <a:picLocks noChangeAspect="1"/>
          </p:cNvPicPr>
          <p:nvPr/>
        </p:nvPicPr>
        <p:blipFill>
          <a:blip r:embed="rId4"/>
          <a:stretch>
            <a:fillRect/>
          </a:stretch>
        </p:blipFill>
        <p:spPr>
          <a:xfrm>
            <a:off x="6664147" y="3847795"/>
            <a:ext cx="241402" cy="241402"/>
          </a:xfrm>
          <a:prstGeom prst="rect">
            <a:avLst/>
          </a:prstGeom>
        </p:spPr>
      </p:pic>
      <p:sp>
        <p:nvSpPr>
          <p:cNvPr id="32" name="Text 24"/>
          <p:cNvSpPr/>
          <p:nvPr/>
        </p:nvSpPr>
        <p:spPr>
          <a:xfrm>
            <a:off x="7132320" y="3575304"/>
            <a:ext cx="438912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Used JavaScript / React.js logic</a:t>
            </a:r>
            <a:endParaRPr lang="en-US" sz="1150" dirty="0"/>
          </a:p>
        </p:txBody>
      </p:sp>
      <p:sp>
        <p:nvSpPr>
          <p:cNvPr id="33" name="Shape 25"/>
          <p:cNvSpPr/>
          <p:nvPr/>
        </p:nvSpPr>
        <p:spPr>
          <a:xfrm>
            <a:off x="548640" y="4471416"/>
            <a:ext cx="5212080" cy="786384"/>
          </a:xfrm>
          <a:prstGeom prst="roundRect">
            <a:avLst>
              <a:gd name="adj" fmla="val 9302"/>
            </a:avLst>
          </a:prstGeom>
          <a:solidFill>
            <a:srgbClr val="FFFFFF"/>
          </a:solidFill>
          <a:ln w="12700">
            <a:solidFill>
              <a:srgbClr val="CADCFC"/>
            </a:solidFill>
            <a:prstDash val="solid"/>
          </a:ln>
        </p:spPr>
      </p:sp>
      <p:sp>
        <p:nvSpPr>
          <p:cNvPr id="34" name="Shape 26"/>
          <p:cNvSpPr/>
          <p:nvPr/>
        </p:nvSpPr>
        <p:spPr>
          <a:xfrm>
            <a:off x="713232" y="4645152"/>
            <a:ext cx="438912" cy="438912"/>
          </a:xfrm>
          <a:prstGeom prst="ellipse">
            <a:avLst/>
          </a:prstGeom>
          <a:solidFill>
            <a:srgbClr val="1E2761"/>
          </a:solidFill>
          <a:ln/>
        </p:spPr>
      </p:sp>
      <p:pic>
        <p:nvPicPr>
          <p:cNvPr id="35" name="Image 6" descr="/home/claude/pptx_work/icons/bug.png"/>
          <p:cNvPicPr>
            <a:picLocks noChangeAspect="1"/>
          </p:cNvPicPr>
          <p:nvPr/>
        </p:nvPicPr>
        <p:blipFill>
          <a:blip r:embed="rId3"/>
          <a:stretch>
            <a:fillRect/>
          </a:stretch>
        </p:blipFill>
        <p:spPr>
          <a:xfrm>
            <a:off x="811987" y="4743907"/>
            <a:ext cx="241402" cy="241402"/>
          </a:xfrm>
          <a:prstGeom prst="rect">
            <a:avLst/>
          </a:prstGeom>
        </p:spPr>
      </p:pic>
      <p:sp>
        <p:nvSpPr>
          <p:cNvPr id="36" name="Text 27"/>
          <p:cNvSpPr/>
          <p:nvPr/>
        </p:nvSpPr>
        <p:spPr>
          <a:xfrm>
            <a:off x="1280160" y="4471416"/>
            <a:ext cx="434340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Finding and fixing UI bugs</a:t>
            </a:r>
            <a:endParaRPr lang="en-US" sz="1150" dirty="0"/>
          </a:p>
        </p:txBody>
      </p:sp>
      <p:sp>
        <p:nvSpPr>
          <p:cNvPr id="37" name="Text 28"/>
          <p:cNvSpPr/>
          <p:nvPr/>
        </p:nvSpPr>
        <p:spPr>
          <a:xfrm>
            <a:off x="5806440" y="4471416"/>
            <a:ext cx="502920" cy="786384"/>
          </a:xfrm>
          <a:prstGeom prst="rect">
            <a:avLst/>
          </a:prstGeom>
          <a:noFill/>
          <a:ln/>
        </p:spPr>
        <p:txBody>
          <a:bodyPr wrap="square" rtlCol="0" anchor="ctr"/>
          <a:lstStyle/>
          <a:p>
            <a:pPr marL="0" indent="0" algn="ctr">
              <a:buNone/>
            </a:pPr>
            <a:r>
              <a:rPr lang="en-US" sz="1800" dirty="0">
                <a:solidFill>
                  <a:srgbClr val="4C7FFF"/>
                </a:solidFill>
                <a:latin typeface="Calibri" pitchFamily="34" charset="0"/>
                <a:ea typeface="Calibri" pitchFamily="34" charset="-122"/>
                <a:cs typeface="Calibri" pitchFamily="34" charset="-120"/>
              </a:rPr>
              <a:t>→</a:t>
            </a:r>
            <a:endParaRPr lang="en-US" sz="1800" dirty="0"/>
          </a:p>
        </p:txBody>
      </p:sp>
      <p:sp>
        <p:nvSpPr>
          <p:cNvPr id="38" name="Shape 29"/>
          <p:cNvSpPr/>
          <p:nvPr/>
        </p:nvSpPr>
        <p:spPr>
          <a:xfrm>
            <a:off x="6400800" y="4471416"/>
            <a:ext cx="5239512" cy="786384"/>
          </a:xfrm>
          <a:prstGeom prst="roundRect">
            <a:avLst>
              <a:gd name="adj" fmla="val 9302"/>
            </a:avLst>
          </a:prstGeom>
          <a:solidFill>
            <a:srgbClr val="FFFFFF"/>
          </a:solidFill>
          <a:ln w="12700">
            <a:solidFill>
              <a:srgbClr val="CADCFC"/>
            </a:solidFill>
            <a:prstDash val="solid"/>
          </a:ln>
        </p:spPr>
      </p:sp>
      <p:sp>
        <p:nvSpPr>
          <p:cNvPr id="39" name="Shape 30"/>
          <p:cNvSpPr/>
          <p:nvPr/>
        </p:nvSpPr>
        <p:spPr>
          <a:xfrm>
            <a:off x="6565392" y="4645152"/>
            <a:ext cx="438912" cy="438912"/>
          </a:xfrm>
          <a:prstGeom prst="ellipse">
            <a:avLst/>
          </a:prstGeom>
          <a:solidFill>
            <a:srgbClr val="4C7FFF"/>
          </a:solidFill>
          <a:ln/>
        </p:spPr>
      </p:sp>
      <p:pic>
        <p:nvPicPr>
          <p:cNvPr id="40" name="Image 7" descr="/home/claude/pptx_work/icons/check-circle.png"/>
          <p:cNvPicPr>
            <a:picLocks noChangeAspect="1"/>
          </p:cNvPicPr>
          <p:nvPr/>
        </p:nvPicPr>
        <p:blipFill>
          <a:blip r:embed="rId4"/>
          <a:stretch>
            <a:fillRect/>
          </a:stretch>
        </p:blipFill>
        <p:spPr>
          <a:xfrm>
            <a:off x="6664147" y="4743907"/>
            <a:ext cx="241402" cy="241402"/>
          </a:xfrm>
          <a:prstGeom prst="rect">
            <a:avLst/>
          </a:prstGeom>
        </p:spPr>
      </p:pic>
      <p:sp>
        <p:nvSpPr>
          <p:cNvPr id="41" name="Text 31"/>
          <p:cNvSpPr/>
          <p:nvPr/>
        </p:nvSpPr>
        <p:spPr>
          <a:xfrm>
            <a:off x="7132320" y="4471416"/>
            <a:ext cx="438912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Used browser developer tools and systematic debugging</a:t>
            </a:r>
            <a:endParaRPr lang="en-US" sz="1150" dirty="0"/>
          </a:p>
        </p:txBody>
      </p:sp>
      <p:sp>
        <p:nvSpPr>
          <p:cNvPr id="42" name="Shape 32"/>
          <p:cNvSpPr/>
          <p:nvPr/>
        </p:nvSpPr>
        <p:spPr>
          <a:xfrm>
            <a:off x="548640" y="5367528"/>
            <a:ext cx="5212080" cy="786384"/>
          </a:xfrm>
          <a:prstGeom prst="roundRect">
            <a:avLst>
              <a:gd name="adj" fmla="val 9302"/>
            </a:avLst>
          </a:prstGeom>
          <a:solidFill>
            <a:srgbClr val="FFFFFF"/>
          </a:solidFill>
          <a:ln w="12700">
            <a:solidFill>
              <a:srgbClr val="CADCFC"/>
            </a:solidFill>
            <a:prstDash val="solid"/>
          </a:ln>
        </p:spPr>
      </p:sp>
      <p:sp>
        <p:nvSpPr>
          <p:cNvPr id="43" name="Shape 33"/>
          <p:cNvSpPr/>
          <p:nvPr/>
        </p:nvSpPr>
        <p:spPr>
          <a:xfrm>
            <a:off x="713232" y="5541264"/>
            <a:ext cx="438912" cy="438912"/>
          </a:xfrm>
          <a:prstGeom prst="ellipse">
            <a:avLst/>
          </a:prstGeom>
          <a:solidFill>
            <a:srgbClr val="1E2761"/>
          </a:solidFill>
          <a:ln/>
        </p:spPr>
      </p:sp>
      <p:pic>
        <p:nvPicPr>
          <p:cNvPr id="44" name="Image 8" descr="/home/claude/pptx_work/icons/bug.png"/>
          <p:cNvPicPr>
            <a:picLocks noChangeAspect="1"/>
          </p:cNvPicPr>
          <p:nvPr/>
        </p:nvPicPr>
        <p:blipFill>
          <a:blip r:embed="rId3"/>
          <a:stretch>
            <a:fillRect/>
          </a:stretch>
        </p:blipFill>
        <p:spPr>
          <a:xfrm>
            <a:off x="811987" y="5640019"/>
            <a:ext cx="241402" cy="241402"/>
          </a:xfrm>
          <a:prstGeom prst="rect">
            <a:avLst/>
          </a:prstGeom>
        </p:spPr>
      </p:pic>
      <p:sp>
        <p:nvSpPr>
          <p:cNvPr id="45" name="Text 34"/>
          <p:cNvSpPr/>
          <p:nvPr/>
        </p:nvSpPr>
        <p:spPr>
          <a:xfrm>
            <a:off x="1280160" y="5367528"/>
            <a:ext cx="434340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Designing for different screen sizes</a:t>
            </a:r>
            <a:endParaRPr lang="en-US" sz="1150" dirty="0"/>
          </a:p>
        </p:txBody>
      </p:sp>
      <p:sp>
        <p:nvSpPr>
          <p:cNvPr id="46" name="Text 35"/>
          <p:cNvSpPr/>
          <p:nvPr/>
        </p:nvSpPr>
        <p:spPr>
          <a:xfrm>
            <a:off x="5806440" y="5367528"/>
            <a:ext cx="502920" cy="786384"/>
          </a:xfrm>
          <a:prstGeom prst="rect">
            <a:avLst/>
          </a:prstGeom>
          <a:noFill/>
          <a:ln/>
        </p:spPr>
        <p:txBody>
          <a:bodyPr wrap="square" rtlCol="0" anchor="ctr"/>
          <a:lstStyle/>
          <a:p>
            <a:pPr marL="0" indent="0" algn="ctr">
              <a:buNone/>
            </a:pPr>
            <a:r>
              <a:rPr lang="en-US" sz="1800" dirty="0">
                <a:solidFill>
                  <a:srgbClr val="4C7FFF"/>
                </a:solidFill>
                <a:latin typeface="Calibri" pitchFamily="34" charset="0"/>
                <a:ea typeface="Calibri" pitchFamily="34" charset="-122"/>
                <a:cs typeface="Calibri" pitchFamily="34" charset="-120"/>
              </a:rPr>
              <a:t>→</a:t>
            </a:r>
            <a:endParaRPr lang="en-US" sz="1800" dirty="0"/>
          </a:p>
        </p:txBody>
      </p:sp>
      <p:sp>
        <p:nvSpPr>
          <p:cNvPr id="47" name="Shape 36"/>
          <p:cNvSpPr/>
          <p:nvPr/>
        </p:nvSpPr>
        <p:spPr>
          <a:xfrm>
            <a:off x="6400800" y="5367528"/>
            <a:ext cx="5239512" cy="786384"/>
          </a:xfrm>
          <a:prstGeom prst="roundRect">
            <a:avLst>
              <a:gd name="adj" fmla="val 9302"/>
            </a:avLst>
          </a:prstGeom>
          <a:solidFill>
            <a:srgbClr val="FFFFFF"/>
          </a:solidFill>
          <a:ln w="12700">
            <a:solidFill>
              <a:srgbClr val="CADCFC"/>
            </a:solidFill>
            <a:prstDash val="solid"/>
          </a:ln>
        </p:spPr>
      </p:sp>
      <p:sp>
        <p:nvSpPr>
          <p:cNvPr id="48" name="Shape 37"/>
          <p:cNvSpPr/>
          <p:nvPr/>
        </p:nvSpPr>
        <p:spPr>
          <a:xfrm>
            <a:off x="6565392" y="5541264"/>
            <a:ext cx="438912" cy="438912"/>
          </a:xfrm>
          <a:prstGeom prst="ellipse">
            <a:avLst/>
          </a:prstGeom>
          <a:solidFill>
            <a:srgbClr val="4C7FFF"/>
          </a:solidFill>
          <a:ln/>
        </p:spPr>
      </p:sp>
      <p:pic>
        <p:nvPicPr>
          <p:cNvPr id="49" name="Image 9" descr="/home/claude/pptx_work/icons/check-circle.png"/>
          <p:cNvPicPr>
            <a:picLocks noChangeAspect="1"/>
          </p:cNvPicPr>
          <p:nvPr/>
        </p:nvPicPr>
        <p:blipFill>
          <a:blip r:embed="rId4"/>
          <a:stretch>
            <a:fillRect/>
          </a:stretch>
        </p:blipFill>
        <p:spPr>
          <a:xfrm>
            <a:off x="6664147" y="5640019"/>
            <a:ext cx="241402" cy="241402"/>
          </a:xfrm>
          <a:prstGeom prst="rect">
            <a:avLst/>
          </a:prstGeom>
        </p:spPr>
      </p:pic>
      <p:sp>
        <p:nvSpPr>
          <p:cNvPr id="50" name="Text 38"/>
          <p:cNvSpPr/>
          <p:nvPr/>
        </p:nvSpPr>
        <p:spPr>
          <a:xfrm>
            <a:off x="7132320" y="5367528"/>
            <a:ext cx="4389120" cy="786384"/>
          </a:xfrm>
          <a:prstGeom prst="rect">
            <a:avLst/>
          </a:prstGeom>
          <a:noFill/>
          <a:ln/>
        </p:spPr>
        <p:txBody>
          <a:bodyPr wrap="square" rtlCol="0" anchor="ctr"/>
          <a:lstStyle/>
          <a:p>
            <a:pPr marL="0" indent="0">
              <a:buNone/>
            </a:pPr>
            <a:r>
              <a:rPr lang="en-US" sz="1150" dirty="0">
                <a:solidFill>
                  <a:srgbClr val="445068"/>
                </a:solidFill>
                <a:latin typeface="Calibri" pitchFamily="34" charset="0"/>
                <a:ea typeface="Calibri" pitchFamily="34" charset="-122"/>
                <a:cs typeface="Calibri" pitchFamily="34" charset="-120"/>
              </a:rPr>
              <a:t>Tested layouts across desktop, tablet, and mobile views</a:t>
            </a:r>
            <a:endParaRPr lang="en-US" sz="1150" dirty="0"/>
          </a:p>
        </p:txBody>
      </p:sp>
      <p:sp>
        <p:nvSpPr>
          <p:cNvPr id="51" name="Text 3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10  ·  GROWTH</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Skills &amp; Learning Outcomes</a:t>
            </a:r>
            <a:endParaRPr lang="en-US" sz="3200" dirty="0"/>
          </a:p>
        </p:txBody>
      </p:sp>
      <p:sp>
        <p:nvSpPr>
          <p:cNvPr id="4" name="Text 2"/>
          <p:cNvSpPr/>
          <p:nvPr/>
        </p:nvSpPr>
        <p:spPr>
          <a:xfrm>
            <a:off x="548640" y="1298448"/>
            <a:ext cx="9144000" cy="365760"/>
          </a:xfrm>
          <a:prstGeom prst="rect">
            <a:avLst/>
          </a:prstGeom>
          <a:noFill/>
          <a:ln/>
        </p:spPr>
        <p:txBody>
          <a:bodyPr wrap="square" rtlCol="0" anchor="ctr"/>
          <a:lstStyle/>
          <a:p>
            <a:pPr marL="0" indent="0">
              <a:buNone/>
            </a:pPr>
            <a:r>
              <a:rPr lang="en-US" sz="1350" i="1" dirty="0">
                <a:solidFill>
                  <a:srgbClr val="445068"/>
                </a:solidFill>
                <a:latin typeface="Calibri" pitchFamily="34" charset="0"/>
                <a:ea typeface="Calibri" pitchFamily="34" charset="-122"/>
                <a:cs typeface="Calibri" pitchFamily="34" charset="-120"/>
              </a:rPr>
              <a:t>During the internship, I improved both my technical and professional skills.</a:t>
            </a:r>
            <a:endParaRPr lang="en-US" sz="1350" dirty="0"/>
          </a:p>
        </p:txBody>
      </p:sp>
      <p:sp>
        <p:nvSpPr>
          <p:cNvPr id="5" name="Shape 3"/>
          <p:cNvSpPr/>
          <p:nvPr/>
        </p:nvSpPr>
        <p:spPr>
          <a:xfrm>
            <a:off x="548640" y="1783080"/>
            <a:ext cx="5440680" cy="4526280"/>
          </a:xfrm>
          <a:prstGeom prst="roundRect">
            <a:avLst>
              <a:gd name="adj" fmla="val 2424"/>
            </a:avLst>
          </a:prstGeom>
          <a:solidFill>
            <a:srgbClr val="FFFFFF"/>
          </a:solidFill>
          <a:ln w="12700">
            <a:solidFill>
              <a:srgbClr val="CADCFC"/>
            </a:solidFill>
            <a:prstDash val="solid"/>
          </a:ln>
        </p:spPr>
        <p:txBody>
          <a:bodyPr/>
          <a:lstStyle/>
          <a:p>
            <a:endParaRPr lang="en-IN" dirty="0"/>
          </a:p>
        </p:txBody>
      </p:sp>
      <p:sp>
        <p:nvSpPr>
          <p:cNvPr id="6" name="Shape 4"/>
          <p:cNvSpPr/>
          <p:nvPr/>
        </p:nvSpPr>
        <p:spPr>
          <a:xfrm>
            <a:off x="822960" y="2057400"/>
            <a:ext cx="548640" cy="548640"/>
          </a:xfrm>
          <a:prstGeom prst="ellipse">
            <a:avLst/>
          </a:prstGeom>
          <a:solidFill>
            <a:srgbClr val="1E2761"/>
          </a:solidFill>
          <a:ln/>
        </p:spPr>
      </p:sp>
      <p:pic>
        <p:nvPicPr>
          <p:cNvPr id="7" name="Image 0" descr="/home/claude/pptx_work/icons/code.png"/>
          <p:cNvPicPr>
            <a:picLocks noChangeAspect="1"/>
          </p:cNvPicPr>
          <p:nvPr/>
        </p:nvPicPr>
        <p:blipFill>
          <a:blip r:embed="rId3"/>
          <a:stretch>
            <a:fillRect/>
          </a:stretch>
        </p:blipFill>
        <p:spPr>
          <a:xfrm>
            <a:off x="946404" y="2180844"/>
            <a:ext cx="301752" cy="301752"/>
          </a:xfrm>
          <a:prstGeom prst="rect">
            <a:avLst/>
          </a:prstGeom>
        </p:spPr>
      </p:pic>
      <p:sp>
        <p:nvSpPr>
          <p:cNvPr id="8" name="Text 5"/>
          <p:cNvSpPr/>
          <p:nvPr/>
        </p:nvSpPr>
        <p:spPr>
          <a:xfrm>
            <a:off x="1508760" y="2057400"/>
            <a:ext cx="4206240" cy="54864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Technical Skills</a:t>
            </a:r>
            <a:endParaRPr lang="en-US" sz="1800" dirty="0"/>
          </a:p>
        </p:txBody>
      </p:sp>
      <p:sp>
        <p:nvSpPr>
          <p:cNvPr id="9" name="Shape 6"/>
          <p:cNvSpPr/>
          <p:nvPr/>
        </p:nvSpPr>
        <p:spPr>
          <a:xfrm>
            <a:off x="868680" y="2807208"/>
            <a:ext cx="100584" cy="100584"/>
          </a:xfrm>
          <a:prstGeom prst="ellipse">
            <a:avLst/>
          </a:prstGeom>
          <a:solidFill>
            <a:srgbClr val="1E2761"/>
          </a:solidFill>
          <a:ln/>
        </p:spPr>
      </p:sp>
      <p:sp>
        <p:nvSpPr>
          <p:cNvPr id="10" name="Text 7"/>
          <p:cNvSpPr/>
          <p:nvPr/>
        </p:nvSpPr>
        <p:spPr>
          <a:xfrm>
            <a:off x="1097280" y="2717055"/>
            <a:ext cx="4663440" cy="347472"/>
          </a:xfrm>
          <a:prstGeom prst="rect">
            <a:avLst/>
          </a:prstGeom>
          <a:noFill/>
          <a:ln/>
        </p:spPr>
        <p:txBody>
          <a:bodyPr wrap="square" rtlCol="0" anchor="ctr"/>
          <a:lstStyle/>
          <a:p>
            <a:pPr algn="just"/>
            <a:r>
              <a:rPr lang="en-IN" sz="1300" dirty="0"/>
              <a:t>Data Cleaning &amp; Preprocessing</a:t>
            </a:r>
            <a:endParaRPr lang="en-US" sz="1300" dirty="0"/>
          </a:p>
        </p:txBody>
      </p:sp>
      <p:sp>
        <p:nvSpPr>
          <p:cNvPr id="11" name="Shape 8"/>
          <p:cNvSpPr/>
          <p:nvPr/>
        </p:nvSpPr>
        <p:spPr>
          <a:xfrm>
            <a:off x="868680" y="3168396"/>
            <a:ext cx="100584" cy="100584"/>
          </a:xfrm>
          <a:prstGeom prst="ellipse">
            <a:avLst/>
          </a:prstGeom>
          <a:solidFill>
            <a:srgbClr val="1E2761"/>
          </a:solidFill>
          <a:ln/>
        </p:spPr>
      </p:sp>
      <p:sp>
        <p:nvSpPr>
          <p:cNvPr id="12" name="Text 9"/>
          <p:cNvSpPr/>
          <p:nvPr/>
        </p:nvSpPr>
        <p:spPr>
          <a:xfrm>
            <a:off x="1097280" y="3104388"/>
            <a:ext cx="4663440" cy="329184"/>
          </a:xfrm>
          <a:prstGeom prst="rect">
            <a:avLst/>
          </a:prstGeom>
          <a:noFill/>
          <a:ln/>
        </p:spPr>
        <p:txBody>
          <a:bodyPr wrap="square" rtlCol="0" anchor="ctr"/>
          <a:lstStyle/>
          <a:p>
            <a:r>
              <a:rPr lang="en-IN" sz="1300" dirty="0"/>
              <a:t>Data Wrangling</a:t>
            </a:r>
            <a:endParaRPr lang="en-US" sz="1300" dirty="0"/>
          </a:p>
        </p:txBody>
      </p:sp>
      <p:sp>
        <p:nvSpPr>
          <p:cNvPr id="13" name="Shape 10"/>
          <p:cNvSpPr/>
          <p:nvPr/>
        </p:nvSpPr>
        <p:spPr>
          <a:xfrm>
            <a:off x="868680" y="3529584"/>
            <a:ext cx="100584" cy="100584"/>
          </a:xfrm>
          <a:prstGeom prst="ellipse">
            <a:avLst/>
          </a:prstGeom>
          <a:solidFill>
            <a:srgbClr val="1E2761"/>
          </a:solidFill>
          <a:ln/>
        </p:spPr>
      </p:sp>
      <p:sp>
        <p:nvSpPr>
          <p:cNvPr id="14" name="Text 11"/>
          <p:cNvSpPr/>
          <p:nvPr/>
        </p:nvSpPr>
        <p:spPr>
          <a:xfrm>
            <a:off x="1097280" y="3465576"/>
            <a:ext cx="4663440" cy="329184"/>
          </a:xfrm>
          <a:prstGeom prst="rect">
            <a:avLst/>
          </a:prstGeom>
          <a:noFill/>
          <a:ln/>
        </p:spPr>
        <p:txBody>
          <a:bodyPr wrap="square" rtlCol="0" anchor="ctr"/>
          <a:lstStyle/>
          <a:p>
            <a:r>
              <a:rPr lang="en-IN" sz="1400" dirty="0"/>
              <a:t>Exploratory Data Analysis (EDA)</a:t>
            </a:r>
            <a:endParaRPr lang="en-US" sz="1300" dirty="0"/>
          </a:p>
        </p:txBody>
      </p:sp>
      <p:sp>
        <p:nvSpPr>
          <p:cNvPr id="15" name="Shape 12"/>
          <p:cNvSpPr/>
          <p:nvPr/>
        </p:nvSpPr>
        <p:spPr>
          <a:xfrm>
            <a:off x="868680" y="3890772"/>
            <a:ext cx="100584" cy="100584"/>
          </a:xfrm>
          <a:prstGeom prst="ellipse">
            <a:avLst/>
          </a:prstGeom>
          <a:solidFill>
            <a:srgbClr val="1E2761"/>
          </a:solidFill>
          <a:ln/>
        </p:spPr>
      </p:sp>
      <p:sp>
        <p:nvSpPr>
          <p:cNvPr id="16" name="Text 13"/>
          <p:cNvSpPr/>
          <p:nvPr/>
        </p:nvSpPr>
        <p:spPr>
          <a:xfrm>
            <a:off x="1097280" y="3826764"/>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JavaScript</a:t>
            </a:r>
            <a:endParaRPr lang="en-US" sz="1300" dirty="0"/>
          </a:p>
        </p:txBody>
      </p:sp>
      <p:sp>
        <p:nvSpPr>
          <p:cNvPr id="17" name="Shape 14"/>
          <p:cNvSpPr/>
          <p:nvPr/>
        </p:nvSpPr>
        <p:spPr>
          <a:xfrm>
            <a:off x="868680" y="4251960"/>
            <a:ext cx="100584" cy="100584"/>
          </a:xfrm>
          <a:prstGeom prst="ellipse">
            <a:avLst/>
          </a:prstGeom>
          <a:solidFill>
            <a:srgbClr val="1E2761"/>
          </a:solidFill>
          <a:ln/>
        </p:spPr>
      </p:sp>
      <p:sp>
        <p:nvSpPr>
          <p:cNvPr id="18" name="Text 15"/>
          <p:cNvSpPr/>
          <p:nvPr/>
        </p:nvSpPr>
        <p:spPr>
          <a:xfrm>
            <a:off x="1097280" y="4187952"/>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Responsive Web Design</a:t>
            </a:r>
            <a:endParaRPr lang="en-US" sz="1300" dirty="0"/>
          </a:p>
        </p:txBody>
      </p:sp>
      <p:sp>
        <p:nvSpPr>
          <p:cNvPr id="19" name="Shape 16"/>
          <p:cNvSpPr/>
          <p:nvPr/>
        </p:nvSpPr>
        <p:spPr>
          <a:xfrm>
            <a:off x="868680" y="4613148"/>
            <a:ext cx="100584" cy="100584"/>
          </a:xfrm>
          <a:prstGeom prst="ellipse">
            <a:avLst/>
          </a:prstGeom>
          <a:solidFill>
            <a:srgbClr val="1E2761"/>
          </a:solidFill>
          <a:ln/>
        </p:spPr>
      </p:sp>
      <p:sp>
        <p:nvSpPr>
          <p:cNvPr id="20" name="Text 17"/>
          <p:cNvSpPr/>
          <p:nvPr/>
        </p:nvSpPr>
        <p:spPr>
          <a:xfrm>
            <a:off x="1097280" y="4549140"/>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UI/UX Implementation</a:t>
            </a:r>
            <a:endParaRPr lang="en-US" sz="1300" dirty="0"/>
          </a:p>
        </p:txBody>
      </p:sp>
      <p:sp>
        <p:nvSpPr>
          <p:cNvPr id="21" name="Shape 18"/>
          <p:cNvSpPr/>
          <p:nvPr/>
        </p:nvSpPr>
        <p:spPr>
          <a:xfrm>
            <a:off x="868680" y="4974336"/>
            <a:ext cx="100584" cy="100584"/>
          </a:xfrm>
          <a:prstGeom prst="ellipse">
            <a:avLst/>
          </a:prstGeom>
          <a:solidFill>
            <a:srgbClr val="1E2761"/>
          </a:solidFill>
          <a:ln/>
        </p:spPr>
      </p:sp>
      <p:sp>
        <p:nvSpPr>
          <p:cNvPr id="22" name="Text 19"/>
          <p:cNvSpPr/>
          <p:nvPr/>
        </p:nvSpPr>
        <p:spPr>
          <a:xfrm>
            <a:off x="1097280" y="4910328"/>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Component-Based Development</a:t>
            </a:r>
            <a:endParaRPr lang="en-US" sz="1300" dirty="0"/>
          </a:p>
        </p:txBody>
      </p:sp>
      <p:sp>
        <p:nvSpPr>
          <p:cNvPr id="23" name="Shape 20"/>
          <p:cNvSpPr/>
          <p:nvPr/>
        </p:nvSpPr>
        <p:spPr>
          <a:xfrm>
            <a:off x="868680" y="5335524"/>
            <a:ext cx="100584" cy="100584"/>
          </a:xfrm>
          <a:prstGeom prst="ellipse">
            <a:avLst/>
          </a:prstGeom>
          <a:solidFill>
            <a:srgbClr val="1E2761"/>
          </a:solidFill>
          <a:ln/>
        </p:spPr>
      </p:sp>
      <p:sp>
        <p:nvSpPr>
          <p:cNvPr id="24" name="Text 21"/>
          <p:cNvSpPr/>
          <p:nvPr/>
        </p:nvSpPr>
        <p:spPr>
          <a:xfrm>
            <a:off x="1097280" y="5271516"/>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Git &amp; GitHub</a:t>
            </a:r>
            <a:endParaRPr lang="en-US" sz="1300" dirty="0"/>
          </a:p>
        </p:txBody>
      </p:sp>
      <p:sp>
        <p:nvSpPr>
          <p:cNvPr id="25" name="Shape 22"/>
          <p:cNvSpPr/>
          <p:nvPr/>
        </p:nvSpPr>
        <p:spPr>
          <a:xfrm>
            <a:off x="868680" y="5696712"/>
            <a:ext cx="100584" cy="100584"/>
          </a:xfrm>
          <a:prstGeom prst="ellipse">
            <a:avLst/>
          </a:prstGeom>
          <a:solidFill>
            <a:srgbClr val="1E2761"/>
          </a:solidFill>
          <a:ln/>
        </p:spPr>
      </p:sp>
      <p:sp>
        <p:nvSpPr>
          <p:cNvPr id="26" name="Text 23"/>
          <p:cNvSpPr/>
          <p:nvPr/>
        </p:nvSpPr>
        <p:spPr>
          <a:xfrm>
            <a:off x="1097280" y="5632704"/>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Debugging</a:t>
            </a:r>
            <a:endParaRPr lang="en-US" sz="1300" dirty="0"/>
          </a:p>
        </p:txBody>
      </p:sp>
      <p:sp>
        <p:nvSpPr>
          <p:cNvPr id="27" name="Shape 24"/>
          <p:cNvSpPr/>
          <p:nvPr/>
        </p:nvSpPr>
        <p:spPr>
          <a:xfrm>
            <a:off x="6199632" y="1783080"/>
            <a:ext cx="5440680" cy="4526280"/>
          </a:xfrm>
          <a:prstGeom prst="roundRect">
            <a:avLst>
              <a:gd name="adj" fmla="val 2424"/>
            </a:avLst>
          </a:prstGeom>
          <a:solidFill>
            <a:srgbClr val="FFFFFF"/>
          </a:solidFill>
          <a:ln w="12700">
            <a:solidFill>
              <a:srgbClr val="CADCFC"/>
            </a:solidFill>
            <a:prstDash val="solid"/>
          </a:ln>
        </p:spPr>
      </p:sp>
      <p:sp>
        <p:nvSpPr>
          <p:cNvPr id="28" name="Shape 25"/>
          <p:cNvSpPr/>
          <p:nvPr/>
        </p:nvSpPr>
        <p:spPr>
          <a:xfrm>
            <a:off x="6473952" y="2057400"/>
            <a:ext cx="548640" cy="548640"/>
          </a:xfrm>
          <a:prstGeom prst="ellipse">
            <a:avLst/>
          </a:prstGeom>
          <a:solidFill>
            <a:srgbClr val="4C7FFF"/>
          </a:solidFill>
          <a:ln/>
        </p:spPr>
      </p:sp>
      <p:pic>
        <p:nvPicPr>
          <p:cNvPr id="29" name="Image 1" descr="/home/claude/pptx_work/icons/handshake.png"/>
          <p:cNvPicPr>
            <a:picLocks noChangeAspect="1"/>
          </p:cNvPicPr>
          <p:nvPr/>
        </p:nvPicPr>
        <p:blipFill>
          <a:blip r:embed="rId4"/>
          <a:stretch>
            <a:fillRect/>
          </a:stretch>
        </p:blipFill>
        <p:spPr>
          <a:xfrm>
            <a:off x="6597396" y="2180844"/>
            <a:ext cx="301752" cy="301752"/>
          </a:xfrm>
          <a:prstGeom prst="rect">
            <a:avLst/>
          </a:prstGeom>
        </p:spPr>
      </p:pic>
      <p:sp>
        <p:nvSpPr>
          <p:cNvPr id="30" name="Text 26"/>
          <p:cNvSpPr/>
          <p:nvPr/>
        </p:nvSpPr>
        <p:spPr>
          <a:xfrm>
            <a:off x="7159752" y="2057400"/>
            <a:ext cx="4206240" cy="54864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Professional Skills</a:t>
            </a:r>
            <a:endParaRPr lang="en-US" sz="1800" dirty="0"/>
          </a:p>
        </p:txBody>
      </p:sp>
      <p:sp>
        <p:nvSpPr>
          <p:cNvPr id="31" name="Shape 27"/>
          <p:cNvSpPr/>
          <p:nvPr/>
        </p:nvSpPr>
        <p:spPr>
          <a:xfrm>
            <a:off x="6519672" y="2807208"/>
            <a:ext cx="100584" cy="100584"/>
          </a:xfrm>
          <a:prstGeom prst="ellipse">
            <a:avLst/>
          </a:prstGeom>
          <a:solidFill>
            <a:srgbClr val="4C7FFF"/>
          </a:solidFill>
          <a:ln/>
        </p:spPr>
      </p:sp>
      <p:sp>
        <p:nvSpPr>
          <p:cNvPr id="32" name="Text 28"/>
          <p:cNvSpPr/>
          <p:nvPr/>
        </p:nvSpPr>
        <p:spPr>
          <a:xfrm>
            <a:off x="6748272" y="2743200"/>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Problem Solving</a:t>
            </a:r>
            <a:endParaRPr lang="en-US" sz="1300" dirty="0"/>
          </a:p>
        </p:txBody>
      </p:sp>
      <p:sp>
        <p:nvSpPr>
          <p:cNvPr id="33" name="Shape 29"/>
          <p:cNvSpPr/>
          <p:nvPr/>
        </p:nvSpPr>
        <p:spPr>
          <a:xfrm>
            <a:off x="6519672" y="3264408"/>
            <a:ext cx="100584" cy="100584"/>
          </a:xfrm>
          <a:prstGeom prst="ellipse">
            <a:avLst/>
          </a:prstGeom>
          <a:solidFill>
            <a:srgbClr val="4C7FFF"/>
          </a:solidFill>
          <a:ln/>
        </p:spPr>
      </p:sp>
      <p:sp>
        <p:nvSpPr>
          <p:cNvPr id="34" name="Text 30"/>
          <p:cNvSpPr/>
          <p:nvPr/>
        </p:nvSpPr>
        <p:spPr>
          <a:xfrm>
            <a:off x="6748272" y="3200400"/>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Time Management</a:t>
            </a:r>
            <a:endParaRPr lang="en-US" sz="1300" dirty="0"/>
          </a:p>
        </p:txBody>
      </p:sp>
      <p:sp>
        <p:nvSpPr>
          <p:cNvPr id="35" name="Shape 31"/>
          <p:cNvSpPr/>
          <p:nvPr/>
        </p:nvSpPr>
        <p:spPr>
          <a:xfrm>
            <a:off x="6519672" y="3721608"/>
            <a:ext cx="100584" cy="100584"/>
          </a:xfrm>
          <a:prstGeom prst="ellipse">
            <a:avLst/>
          </a:prstGeom>
          <a:solidFill>
            <a:srgbClr val="4C7FFF"/>
          </a:solidFill>
          <a:ln/>
        </p:spPr>
      </p:sp>
      <p:sp>
        <p:nvSpPr>
          <p:cNvPr id="36" name="Text 32"/>
          <p:cNvSpPr/>
          <p:nvPr/>
        </p:nvSpPr>
        <p:spPr>
          <a:xfrm>
            <a:off x="6748272" y="3657600"/>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Communication</a:t>
            </a:r>
            <a:endParaRPr lang="en-US" sz="1300" dirty="0"/>
          </a:p>
        </p:txBody>
      </p:sp>
      <p:sp>
        <p:nvSpPr>
          <p:cNvPr id="37" name="Shape 33"/>
          <p:cNvSpPr/>
          <p:nvPr/>
        </p:nvSpPr>
        <p:spPr>
          <a:xfrm>
            <a:off x="6519672" y="4178808"/>
            <a:ext cx="100584" cy="100584"/>
          </a:xfrm>
          <a:prstGeom prst="ellipse">
            <a:avLst/>
          </a:prstGeom>
          <a:solidFill>
            <a:srgbClr val="4C7FFF"/>
          </a:solidFill>
          <a:ln/>
        </p:spPr>
      </p:sp>
      <p:sp>
        <p:nvSpPr>
          <p:cNvPr id="38" name="Text 34"/>
          <p:cNvSpPr/>
          <p:nvPr/>
        </p:nvSpPr>
        <p:spPr>
          <a:xfrm>
            <a:off x="6748272" y="4114800"/>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Team Collaboration</a:t>
            </a:r>
            <a:endParaRPr lang="en-US" sz="1300" dirty="0"/>
          </a:p>
        </p:txBody>
      </p:sp>
      <p:sp>
        <p:nvSpPr>
          <p:cNvPr id="39" name="Shape 35"/>
          <p:cNvSpPr/>
          <p:nvPr/>
        </p:nvSpPr>
        <p:spPr>
          <a:xfrm>
            <a:off x="6519672" y="4636008"/>
            <a:ext cx="100584" cy="100584"/>
          </a:xfrm>
          <a:prstGeom prst="ellipse">
            <a:avLst/>
          </a:prstGeom>
          <a:solidFill>
            <a:srgbClr val="4C7FFF"/>
          </a:solidFill>
          <a:ln/>
        </p:spPr>
      </p:sp>
      <p:sp>
        <p:nvSpPr>
          <p:cNvPr id="40" name="Text 36"/>
          <p:cNvSpPr/>
          <p:nvPr/>
        </p:nvSpPr>
        <p:spPr>
          <a:xfrm>
            <a:off x="6748272" y="4572000"/>
            <a:ext cx="4663440" cy="329184"/>
          </a:xfrm>
          <a:prstGeom prst="rect">
            <a:avLst/>
          </a:prstGeom>
          <a:noFill/>
          <a:ln/>
        </p:spPr>
        <p:txBody>
          <a:bodyPr wrap="square" rtlCol="0" anchor="ctr"/>
          <a:lstStyle/>
          <a:p>
            <a:pPr marL="0" indent="0">
              <a:buNone/>
            </a:pPr>
            <a:r>
              <a:rPr lang="en-US" sz="1300" dirty="0">
                <a:solidFill>
                  <a:srgbClr val="445068"/>
                </a:solidFill>
                <a:latin typeface="Calibri" pitchFamily="34" charset="0"/>
                <a:ea typeface="Calibri" pitchFamily="34" charset="-122"/>
                <a:cs typeface="Calibri" pitchFamily="34" charset="-120"/>
              </a:rPr>
              <a:t>Understanding Project Requirements</a:t>
            </a:r>
            <a:endParaRPr lang="en-US" sz="1300" dirty="0"/>
          </a:p>
        </p:txBody>
      </p:sp>
      <p:sp>
        <p:nvSpPr>
          <p:cNvPr id="41" name="Text 3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D"/>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11  ·  REFLECTION</a:t>
            </a:r>
            <a:endParaRPr lang="en-US" sz="12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Key Takeaways</a:t>
            </a:r>
            <a:endParaRPr lang="en-US" sz="3200" dirty="0"/>
          </a:p>
        </p:txBody>
      </p:sp>
      <p:sp>
        <p:nvSpPr>
          <p:cNvPr id="4" name="Text 2"/>
          <p:cNvSpPr/>
          <p:nvPr/>
        </p:nvSpPr>
        <p:spPr>
          <a:xfrm>
            <a:off x="548640" y="1280160"/>
            <a:ext cx="10789920" cy="457200"/>
          </a:xfrm>
          <a:prstGeom prst="rect">
            <a:avLst/>
          </a:prstGeom>
          <a:noFill/>
          <a:ln/>
        </p:spPr>
        <p:txBody>
          <a:bodyPr wrap="square" rtlCol="0" anchor="ctr"/>
          <a:lstStyle/>
          <a:p>
            <a:pPr marL="0" indent="0">
              <a:buNone/>
            </a:pPr>
            <a:r>
              <a:rPr lang="en-US" sz="1400" i="1" dirty="0">
                <a:solidFill>
                  <a:srgbClr val="445068"/>
                </a:solidFill>
                <a:latin typeface="Calibri" pitchFamily="34" charset="0"/>
                <a:ea typeface="Calibri" pitchFamily="34" charset="-122"/>
                <a:cs typeface="Calibri" pitchFamily="34" charset="-120"/>
              </a:rPr>
              <a:t>The internship helped me bridge the gap between academic learning and practical development.</a:t>
            </a:r>
            <a:endParaRPr lang="en-US" sz="1400" dirty="0"/>
          </a:p>
        </p:txBody>
      </p:sp>
      <p:sp>
        <p:nvSpPr>
          <p:cNvPr id="5" name="Shape 3"/>
          <p:cNvSpPr/>
          <p:nvPr/>
        </p:nvSpPr>
        <p:spPr>
          <a:xfrm>
            <a:off x="548640" y="1920240"/>
            <a:ext cx="365760" cy="365760"/>
          </a:xfrm>
          <a:prstGeom prst="ellipse">
            <a:avLst/>
          </a:prstGeom>
          <a:solidFill>
            <a:srgbClr val="1E2761"/>
          </a:solidFill>
          <a:ln/>
        </p:spPr>
      </p:sp>
      <p:pic>
        <p:nvPicPr>
          <p:cNvPr id="6" name="Image 0" descr="/home/claude/pptx_work/icons/check-circle.png"/>
          <p:cNvPicPr>
            <a:picLocks noChangeAspect="1"/>
          </p:cNvPicPr>
          <p:nvPr/>
        </p:nvPicPr>
        <p:blipFill>
          <a:blip r:embed="rId3"/>
          <a:stretch>
            <a:fillRect/>
          </a:stretch>
        </p:blipFill>
        <p:spPr>
          <a:xfrm>
            <a:off x="630936" y="2002536"/>
            <a:ext cx="201168" cy="201168"/>
          </a:xfrm>
          <a:prstGeom prst="rect">
            <a:avLst/>
          </a:prstGeom>
        </p:spPr>
      </p:pic>
      <p:sp>
        <p:nvSpPr>
          <p:cNvPr id="7" name="Text 4"/>
          <p:cNvSpPr/>
          <p:nvPr/>
        </p:nvSpPr>
        <p:spPr>
          <a:xfrm>
            <a:off x="1005840" y="1920240"/>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Learned how frontend development is performed in a professional environment</a:t>
            </a:r>
            <a:endParaRPr lang="en-US" sz="1250" dirty="0"/>
          </a:p>
        </p:txBody>
      </p:sp>
      <p:sp>
        <p:nvSpPr>
          <p:cNvPr id="8" name="Shape 5"/>
          <p:cNvSpPr/>
          <p:nvPr/>
        </p:nvSpPr>
        <p:spPr>
          <a:xfrm>
            <a:off x="548640" y="2542032"/>
            <a:ext cx="365760" cy="365760"/>
          </a:xfrm>
          <a:prstGeom prst="ellipse">
            <a:avLst/>
          </a:prstGeom>
          <a:solidFill>
            <a:srgbClr val="1E2761"/>
          </a:solidFill>
          <a:ln/>
        </p:spPr>
      </p:sp>
      <p:pic>
        <p:nvPicPr>
          <p:cNvPr id="9" name="Image 1" descr="/home/claude/pptx_work/icons/check-circle.png"/>
          <p:cNvPicPr>
            <a:picLocks noChangeAspect="1"/>
          </p:cNvPicPr>
          <p:nvPr/>
        </p:nvPicPr>
        <p:blipFill>
          <a:blip r:embed="rId3"/>
          <a:stretch>
            <a:fillRect/>
          </a:stretch>
        </p:blipFill>
        <p:spPr>
          <a:xfrm>
            <a:off x="630936" y="2624328"/>
            <a:ext cx="201168" cy="201168"/>
          </a:xfrm>
          <a:prstGeom prst="rect">
            <a:avLst/>
          </a:prstGeom>
        </p:spPr>
      </p:pic>
      <p:sp>
        <p:nvSpPr>
          <p:cNvPr id="10" name="Text 6"/>
          <p:cNvSpPr/>
          <p:nvPr/>
        </p:nvSpPr>
        <p:spPr>
          <a:xfrm>
            <a:off x="1005840" y="2542032"/>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Improved my ability to build responsive interfaces</a:t>
            </a:r>
            <a:endParaRPr lang="en-US" sz="1250" dirty="0"/>
          </a:p>
        </p:txBody>
      </p:sp>
      <p:sp>
        <p:nvSpPr>
          <p:cNvPr id="11" name="Shape 7"/>
          <p:cNvSpPr/>
          <p:nvPr/>
        </p:nvSpPr>
        <p:spPr>
          <a:xfrm>
            <a:off x="548640" y="3163824"/>
            <a:ext cx="365760" cy="365760"/>
          </a:xfrm>
          <a:prstGeom prst="ellipse">
            <a:avLst/>
          </a:prstGeom>
          <a:solidFill>
            <a:srgbClr val="1E2761"/>
          </a:solidFill>
          <a:ln/>
        </p:spPr>
      </p:sp>
      <p:pic>
        <p:nvPicPr>
          <p:cNvPr id="12" name="Image 2" descr="/home/claude/pptx_work/icons/check-circle.png"/>
          <p:cNvPicPr>
            <a:picLocks noChangeAspect="1"/>
          </p:cNvPicPr>
          <p:nvPr/>
        </p:nvPicPr>
        <p:blipFill>
          <a:blip r:embed="rId3"/>
          <a:stretch>
            <a:fillRect/>
          </a:stretch>
        </p:blipFill>
        <p:spPr>
          <a:xfrm>
            <a:off x="630936" y="3246120"/>
            <a:ext cx="201168" cy="201168"/>
          </a:xfrm>
          <a:prstGeom prst="rect">
            <a:avLst/>
          </a:prstGeom>
        </p:spPr>
      </p:pic>
      <p:sp>
        <p:nvSpPr>
          <p:cNvPr id="13" name="Text 8"/>
          <p:cNvSpPr/>
          <p:nvPr/>
        </p:nvSpPr>
        <p:spPr>
          <a:xfrm>
            <a:off x="1005840" y="3163824"/>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Gained practical experience with frontend technologies</a:t>
            </a:r>
            <a:endParaRPr lang="en-US" sz="1250" dirty="0"/>
          </a:p>
        </p:txBody>
      </p:sp>
      <p:sp>
        <p:nvSpPr>
          <p:cNvPr id="14" name="Shape 9"/>
          <p:cNvSpPr/>
          <p:nvPr/>
        </p:nvSpPr>
        <p:spPr>
          <a:xfrm>
            <a:off x="548640" y="3785616"/>
            <a:ext cx="365760" cy="365760"/>
          </a:xfrm>
          <a:prstGeom prst="ellipse">
            <a:avLst/>
          </a:prstGeom>
          <a:solidFill>
            <a:srgbClr val="1E2761"/>
          </a:solidFill>
          <a:ln/>
        </p:spPr>
      </p:sp>
      <p:pic>
        <p:nvPicPr>
          <p:cNvPr id="15" name="Image 3" descr="/home/claude/pptx_work/icons/check-circle.png"/>
          <p:cNvPicPr>
            <a:picLocks noChangeAspect="1"/>
          </p:cNvPicPr>
          <p:nvPr/>
        </p:nvPicPr>
        <p:blipFill>
          <a:blip r:embed="rId3"/>
          <a:stretch>
            <a:fillRect/>
          </a:stretch>
        </p:blipFill>
        <p:spPr>
          <a:xfrm>
            <a:off x="630936" y="3867912"/>
            <a:ext cx="201168" cy="201168"/>
          </a:xfrm>
          <a:prstGeom prst="rect">
            <a:avLst/>
          </a:prstGeom>
        </p:spPr>
      </p:pic>
      <p:sp>
        <p:nvSpPr>
          <p:cNvPr id="16" name="Text 10"/>
          <p:cNvSpPr/>
          <p:nvPr/>
        </p:nvSpPr>
        <p:spPr>
          <a:xfrm>
            <a:off x="1005840" y="3785616"/>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Learned to create reusable and maintainable UI components</a:t>
            </a:r>
            <a:endParaRPr lang="en-US" sz="1250" dirty="0"/>
          </a:p>
        </p:txBody>
      </p:sp>
      <p:sp>
        <p:nvSpPr>
          <p:cNvPr id="17" name="Shape 11"/>
          <p:cNvSpPr/>
          <p:nvPr/>
        </p:nvSpPr>
        <p:spPr>
          <a:xfrm>
            <a:off x="6126480" y="1920240"/>
            <a:ext cx="365760" cy="365760"/>
          </a:xfrm>
          <a:prstGeom prst="ellipse">
            <a:avLst/>
          </a:prstGeom>
          <a:solidFill>
            <a:srgbClr val="1E2761"/>
          </a:solidFill>
          <a:ln/>
        </p:spPr>
      </p:sp>
      <p:pic>
        <p:nvPicPr>
          <p:cNvPr id="18" name="Image 4" descr="/home/claude/pptx_work/icons/check-circle.png"/>
          <p:cNvPicPr>
            <a:picLocks noChangeAspect="1"/>
          </p:cNvPicPr>
          <p:nvPr/>
        </p:nvPicPr>
        <p:blipFill>
          <a:blip r:embed="rId3"/>
          <a:stretch>
            <a:fillRect/>
          </a:stretch>
        </p:blipFill>
        <p:spPr>
          <a:xfrm>
            <a:off x="6208776" y="2002536"/>
            <a:ext cx="201168" cy="201168"/>
          </a:xfrm>
          <a:prstGeom prst="rect">
            <a:avLst/>
          </a:prstGeom>
        </p:spPr>
      </p:pic>
      <p:sp>
        <p:nvSpPr>
          <p:cNvPr id="19" name="Text 12"/>
          <p:cNvSpPr/>
          <p:nvPr/>
        </p:nvSpPr>
        <p:spPr>
          <a:xfrm>
            <a:off x="6583680" y="1920240"/>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Improved debugging and problem-solving abilities</a:t>
            </a:r>
            <a:endParaRPr lang="en-US" sz="1250" dirty="0"/>
          </a:p>
        </p:txBody>
      </p:sp>
      <p:sp>
        <p:nvSpPr>
          <p:cNvPr id="20" name="Shape 13"/>
          <p:cNvSpPr/>
          <p:nvPr/>
        </p:nvSpPr>
        <p:spPr>
          <a:xfrm>
            <a:off x="6126480" y="2542032"/>
            <a:ext cx="365760" cy="365760"/>
          </a:xfrm>
          <a:prstGeom prst="ellipse">
            <a:avLst/>
          </a:prstGeom>
          <a:solidFill>
            <a:srgbClr val="1E2761"/>
          </a:solidFill>
          <a:ln/>
        </p:spPr>
      </p:sp>
      <p:pic>
        <p:nvPicPr>
          <p:cNvPr id="21" name="Image 5" descr="/home/claude/pptx_work/icons/check-circle.png"/>
          <p:cNvPicPr>
            <a:picLocks noChangeAspect="1"/>
          </p:cNvPicPr>
          <p:nvPr/>
        </p:nvPicPr>
        <p:blipFill>
          <a:blip r:embed="rId3"/>
          <a:stretch>
            <a:fillRect/>
          </a:stretch>
        </p:blipFill>
        <p:spPr>
          <a:xfrm>
            <a:off x="6208776" y="2624328"/>
            <a:ext cx="201168" cy="201168"/>
          </a:xfrm>
          <a:prstGeom prst="rect">
            <a:avLst/>
          </a:prstGeom>
        </p:spPr>
      </p:pic>
      <p:sp>
        <p:nvSpPr>
          <p:cNvPr id="22" name="Text 14"/>
          <p:cNvSpPr/>
          <p:nvPr/>
        </p:nvSpPr>
        <p:spPr>
          <a:xfrm>
            <a:off x="6583680" y="2542032"/>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Developed a better understanding of user-focused web design</a:t>
            </a:r>
            <a:endParaRPr lang="en-US" sz="1250" dirty="0"/>
          </a:p>
        </p:txBody>
      </p:sp>
      <p:sp>
        <p:nvSpPr>
          <p:cNvPr id="23" name="Shape 15"/>
          <p:cNvSpPr/>
          <p:nvPr/>
        </p:nvSpPr>
        <p:spPr>
          <a:xfrm>
            <a:off x="6126480" y="3163824"/>
            <a:ext cx="365760" cy="365760"/>
          </a:xfrm>
          <a:prstGeom prst="ellipse">
            <a:avLst/>
          </a:prstGeom>
          <a:solidFill>
            <a:srgbClr val="1E2761"/>
          </a:solidFill>
          <a:ln/>
        </p:spPr>
      </p:sp>
      <p:pic>
        <p:nvPicPr>
          <p:cNvPr id="24" name="Image 6" descr="/home/claude/pptx_work/icons/check-circle.png"/>
          <p:cNvPicPr>
            <a:picLocks noChangeAspect="1"/>
          </p:cNvPicPr>
          <p:nvPr/>
        </p:nvPicPr>
        <p:blipFill>
          <a:blip r:embed="rId3"/>
          <a:stretch>
            <a:fillRect/>
          </a:stretch>
        </p:blipFill>
        <p:spPr>
          <a:xfrm>
            <a:off x="6208776" y="3246120"/>
            <a:ext cx="201168" cy="201168"/>
          </a:xfrm>
          <a:prstGeom prst="rect">
            <a:avLst/>
          </a:prstGeom>
        </p:spPr>
      </p:pic>
      <p:sp>
        <p:nvSpPr>
          <p:cNvPr id="25" name="Text 16"/>
          <p:cNvSpPr/>
          <p:nvPr/>
        </p:nvSpPr>
        <p:spPr>
          <a:xfrm>
            <a:off x="6583680" y="3163824"/>
            <a:ext cx="5029200" cy="502920"/>
          </a:xfrm>
          <a:prstGeom prst="rect">
            <a:avLst/>
          </a:prstGeom>
          <a:noFill/>
          <a:ln/>
        </p:spPr>
        <p:txBody>
          <a:bodyPr wrap="square" rtlCol="0" anchor="ctr"/>
          <a:lstStyle/>
          <a:p>
            <a:pPr marL="0" indent="0">
              <a:buNone/>
            </a:pPr>
            <a:r>
              <a:rPr lang="en-US" sz="1250" dirty="0">
                <a:solidFill>
                  <a:srgbClr val="445068"/>
                </a:solidFill>
                <a:latin typeface="Calibri" pitchFamily="34" charset="0"/>
                <a:ea typeface="Calibri" pitchFamily="34" charset="-122"/>
                <a:cs typeface="Calibri" pitchFamily="34" charset="-120"/>
              </a:rPr>
              <a:t>Gained confidence in working on real-world frontend projects</a:t>
            </a:r>
            <a:endParaRPr lang="en-US" sz="1250" dirty="0"/>
          </a:p>
        </p:txBody>
      </p:sp>
      <p:sp>
        <p:nvSpPr>
          <p:cNvPr id="26" name="Shape 17"/>
          <p:cNvSpPr/>
          <p:nvPr/>
        </p:nvSpPr>
        <p:spPr>
          <a:xfrm>
            <a:off x="548640" y="5349240"/>
            <a:ext cx="11091672" cy="1051560"/>
          </a:xfrm>
          <a:prstGeom prst="roundRect">
            <a:avLst>
              <a:gd name="adj" fmla="val 8696"/>
            </a:avLst>
          </a:prstGeom>
          <a:solidFill>
            <a:srgbClr val="1E2761"/>
          </a:solidFill>
          <a:ln/>
        </p:spPr>
      </p:sp>
      <p:sp>
        <p:nvSpPr>
          <p:cNvPr id="27" name="Shape 18"/>
          <p:cNvSpPr/>
          <p:nvPr/>
        </p:nvSpPr>
        <p:spPr>
          <a:xfrm>
            <a:off x="517779" y="5605272"/>
            <a:ext cx="548640" cy="548640"/>
          </a:xfrm>
          <a:prstGeom prst="ellipse">
            <a:avLst/>
          </a:prstGeom>
          <a:solidFill>
            <a:srgbClr val="4C7FFF"/>
          </a:solidFill>
          <a:ln/>
        </p:spPr>
      </p:sp>
      <p:pic>
        <p:nvPicPr>
          <p:cNvPr id="28" name="Image 7" descr="/home/claude/pptx_work/icons/book.png"/>
          <p:cNvPicPr>
            <a:picLocks noChangeAspect="1"/>
          </p:cNvPicPr>
          <p:nvPr/>
        </p:nvPicPr>
        <p:blipFill>
          <a:blip r:embed="rId4"/>
          <a:stretch>
            <a:fillRect/>
          </a:stretch>
        </p:blipFill>
        <p:spPr>
          <a:xfrm>
            <a:off x="641223" y="5728716"/>
            <a:ext cx="301752" cy="301752"/>
          </a:xfrm>
          <a:prstGeom prst="rect">
            <a:avLst/>
          </a:prstGeom>
        </p:spPr>
      </p:pic>
      <p:sp>
        <p:nvSpPr>
          <p:cNvPr id="29" name="Text 19"/>
          <p:cNvSpPr/>
          <p:nvPr/>
        </p:nvSpPr>
        <p:spPr>
          <a:xfrm>
            <a:off x="1020699" y="5605272"/>
            <a:ext cx="1691640" cy="5486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0" name="Text 20"/>
          <p:cNvSpPr/>
          <p:nvPr/>
        </p:nvSpPr>
        <p:spPr>
          <a:xfrm>
            <a:off x="3001518" y="5605272"/>
            <a:ext cx="457200" cy="54864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a:t>
            </a:r>
            <a:endParaRPr lang="en-US" sz="1600" dirty="0"/>
          </a:p>
        </p:txBody>
      </p:sp>
      <p:sp>
        <p:nvSpPr>
          <p:cNvPr id="31" name="Shape 21"/>
          <p:cNvSpPr/>
          <p:nvPr/>
        </p:nvSpPr>
        <p:spPr>
          <a:xfrm>
            <a:off x="3290697" y="5605272"/>
            <a:ext cx="548640" cy="548640"/>
          </a:xfrm>
          <a:prstGeom prst="ellipse">
            <a:avLst/>
          </a:prstGeom>
          <a:solidFill>
            <a:srgbClr val="4C7FFF"/>
          </a:solidFill>
          <a:ln/>
        </p:spPr>
      </p:sp>
      <p:pic>
        <p:nvPicPr>
          <p:cNvPr id="32" name="Image 8" descr="/home/claude/pptx_work/icons/laptop-code.png"/>
          <p:cNvPicPr>
            <a:picLocks noChangeAspect="1"/>
          </p:cNvPicPr>
          <p:nvPr/>
        </p:nvPicPr>
        <p:blipFill>
          <a:blip r:embed="rId5"/>
          <a:stretch>
            <a:fillRect/>
          </a:stretch>
        </p:blipFill>
        <p:spPr>
          <a:xfrm>
            <a:off x="3414141" y="5728716"/>
            <a:ext cx="301752" cy="301752"/>
          </a:xfrm>
          <a:prstGeom prst="rect">
            <a:avLst/>
          </a:prstGeom>
        </p:spPr>
      </p:pic>
      <p:sp>
        <p:nvSpPr>
          <p:cNvPr id="33" name="Text 22"/>
          <p:cNvSpPr/>
          <p:nvPr/>
        </p:nvSpPr>
        <p:spPr>
          <a:xfrm>
            <a:off x="3793617" y="5605272"/>
            <a:ext cx="1691640" cy="5486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Practice</a:t>
            </a:r>
            <a:endParaRPr lang="en-US" sz="1200" dirty="0"/>
          </a:p>
        </p:txBody>
      </p:sp>
      <p:sp>
        <p:nvSpPr>
          <p:cNvPr id="34" name="Text 23"/>
          <p:cNvSpPr/>
          <p:nvPr/>
        </p:nvSpPr>
        <p:spPr>
          <a:xfrm>
            <a:off x="5774436" y="5605272"/>
            <a:ext cx="457200" cy="54864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a:t>
            </a:r>
            <a:endParaRPr lang="en-US" sz="1600" dirty="0"/>
          </a:p>
        </p:txBody>
      </p:sp>
      <p:sp>
        <p:nvSpPr>
          <p:cNvPr id="35" name="Shape 24"/>
          <p:cNvSpPr/>
          <p:nvPr/>
        </p:nvSpPr>
        <p:spPr>
          <a:xfrm>
            <a:off x="6063615" y="5605272"/>
            <a:ext cx="548640" cy="548640"/>
          </a:xfrm>
          <a:prstGeom prst="ellipse">
            <a:avLst/>
          </a:prstGeom>
          <a:solidFill>
            <a:srgbClr val="4C7FFF"/>
          </a:solidFill>
          <a:ln/>
        </p:spPr>
      </p:sp>
      <p:pic>
        <p:nvPicPr>
          <p:cNvPr id="36" name="Image 9" descr="/home/claude/pptx_work/icons/layer-group.png"/>
          <p:cNvPicPr>
            <a:picLocks noChangeAspect="1"/>
          </p:cNvPicPr>
          <p:nvPr/>
        </p:nvPicPr>
        <p:blipFill>
          <a:blip r:embed="rId6"/>
          <a:stretch>
            <a:fillRect/>
          </a:stretch>
        </p:blipFill>
        <p:spPr>
          <a:xfrm>
            <a:off x="6187059" y="5728716"/>
            <a:ext cx="301752" cy="301752"/>
          </a:xfrm>
          <a:prstGeom prst="rect">
            <a:avLst/>
          </a:prstGeom>
        </p:spPr>
      </p:pic>
      <p:sp>
        <p:nvSpPr>
          <p:cNvPr id="37" name="Text 25"/>
          <p:cNvSpPr/>
          <p:nvPr/>
        </p:nvSpPr>
        <p:spPr>
          <a:xfrm>
            <a:off x="6566535" y="5605272"/>
            <a:ext cx="1691640" cy="5486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Projects</a:t>
            </a:r>
            <a:endParaRPr lang="en-US" sz="1200" dirty="0"/>
          </a:p>
        </p:txBody>
      </p:sp>
      <p:sp>
        <p:nvSpPr>
          <p:cNvPr id="38" name="Text 26"/>
          <p:cNvSpPr/>
          <p:nvPr/>
        </p:nvSpPr>
        <p:spPr>
          <a:xfrm>
            <a:off x="8547354" y="5605272"/>
            <a:ext cx="457200" cy="54864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a:t>
            </a:r>
            <a:endParaRPr lang="en-US" sz="1600" dirty="0"/>
          </a:p>
        </p:txBody>
      </p:sp>
      <p:sp>
        <p:nvSpPr>
          <p:cNvPr id="39" name="Shape 27"/>
          <p:cNvSpPr/>
          <p:nvPr/>
        </p:nvSpPr>
        <p:spPr>
          <a:xfrm>
            <a:off x="8836533" y="5605272"/>
            <a:ext cx="548640" cy="548640"/>
          </a:xfrm>
          <a:prstGeom prst="ellipse">
            <a:avLst/>
          </a:prstGeom>
          <a:solidFill>
            <a:srgbClr val="4C7FFF"/>
          </a:solidFill>
          <a:ln/>
        </p:spPr>
      </p:sp>
      <p:pic>
        <p:nvPicPr>
          <p:cNvPr id="40" name="Image 10" descr="/home/claude/pptx_work/icons/chart-line.png"/>
          <p:cNvPicPr>
            <a:picLocks noChangeAspect="1"/>
          </p:cNvPicPr>
          <p:nvPr/>
        </p:nvPicPr>
        <p:blipFill>
          <a:blip r:embed="rId7"/>
          <a:stretch>
            <a:fillRect/>
          </a:stretch>
        </p:blipFill>
        <p:spPr>
          <a:xfrm>
            <a:off x="8959977" y="5728716"/>
            <a:ext cx="301752" cy="301752"/>
          </a:xfrm>
          <a:prstGeom prst="rect">
            <a:avLst/>
          </a:prstGeom>
        </p:spPr>
      </p:pic>
      <p:sp>
        <p:nvSpPr>
          <p:cNvPr id="41" name="Text 28"/>
          <p:cNvSpPr/>
          <p:nvPr/>
        </p:nvSpPr>
        <p:spPr>
          <a:xfrm>
            <a:off x="9339453" y="5605272"/>
            <a:ext cx="1691640" cy="5486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Professional</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Growth</a:t>
            </a:r>
            <a:endParaRPr lang="en-US" sz="1200" dirty="0"/>
          </a:p>
        </p:txBody>
      </p:sp>
      <p:sp>
        <p:nvSpPr>
          <p:cNvPr id="42" name="Text 2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023360" cy="4023360"/>
          </a:xfrm>
          <a:prstGeom prst="ellipse">
            <a:avLst/>
          </a:prstGeom>
          <a:solidFill>
            <a:srgbClr val="141A45"/>
          </a:solidFill>
          <a:ln/>
        </p:spPr>
      </p:sp>
      <p:sp>
        <p:nvSpPr>
          <p:cNvPr id="3" name="Shape 1"/>
          <p:cNvSpPr/>
          <p:nvPr/>
        </p:nvSpPr>
        <p:spPr>
          <a:xfrm>
            <a:off x="10241280" y="4846320"/>
            <a:ext cx="3657600" cy="3657600"/>
          </a:xfrm>
          <a:prstGeom prst="ellipse">
            <a:avLst/>
          </a:prstGeom>
          <a:solidFill>
            <a:srgbClr val="141A45"/>
          </a:solidFill>
          <a:ln/>
        </p:spPr>
      </p:sp>
      <p:sp>
        <p:nvSpPr>
          <p:cNvPr id="4" name="Text 2"/>
          <p:cNvSpPr/>
          <p:nvPr/>
        </p:nvSpPr>
        <p:spPr>
          <a:xfrm>
            <a:off x="640080" y="502920"/>
            <a:ext cx="5486400" cy="292608"/>
          </a:xfrm>
          <a:prstGeom prst="rect">
            <a:avLst/>
          </a:prstGeom>
          <a:noFill/>
          <a:ln/>
        </p:spPr>
        <p:txBody>
          <a:bodyPr wrap="square" rtlCol="0" anchor="ctr"/>
          <a:lstStyle/>
          <a:p>
            <a:pPr marL="0" indent="0">
              <a:buNone/>
            </a:pPr>
            <a:r>
              <a:rPr lang="en-US" sz="1200" b="1" kern="0" spc="200" dirty="0">
                <a:solidFill>
                  <a:srgbClr val="4C7FFF"/>
                </a:solidFill>
                <a:latin typeface="Calibri" pitchFamily="34" charset="0"/>
                <a:ea typeface="Calibri" pitchFamily="34" charset="-122"/>
                <a:cs typeface="Calibri" pitchFamily="34" charset="-120"/>
              </a:rPr>
              <a:t>SLIDE 12  ·  CLOSING</a:t>
            </a:r>
            <a:endParaRPr lang="en-US" sz="1200" dirty="0"/>
          </a:p>
        </p:txBody>
      </p:sp>
      <p:sp>
        <p:nvSpPr>
          <p:cNvPr id="5" name="Text 3"/>
          <p:cNvSpPr/>
          <p:nvPr/>
        </p:nvSpPr>
        <p:spPr>
          <a:xfrm>
            <a:off x="685800" y="731520"/>
            <a:ext cx="73152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6" name="Text 4"/>
          <p:cNvSpPr/>
          <p:nvPr/>
        </p:nvSpPr>
        <p:spPr>
          <a:xfrm>
            <a:off x="685800" y="1760220"/>
            <a:ext cx="10881360" cy="1737360"/>
          </a:xfrm>
          <a:prstGeom prst="rect">
            <a:avLst/>
          </a:prstGeom>
          <a:noFill/>
          <a:ln/>
        </p:spPr>
        <p:txBody>
          <a:bodyPr wrap="square" rtlCol="0" anchor="ctr"/>
          <a:lstStyle/>
          <a:p>
            <a:pPr>
              <a:lnSpc>
                <a:spcPct val="150000"/>
              </a:lnSpc>
            </a:pPr>
            <a:r>
              <a:rPr lang="en-IN" sz="1400" dirty="0">
                <a:solidFill>
                  <a:schemeClr val="bg1"/>
                </a:solidFill>
              </a:rPr>
              <a:t>My </a:t>
            </a:r>
            <a:r>
              <a:rPr lang="en-IN" sz="1400" b="1" dirty="0">
                <a:solidFill>
                  <a:schemeClr val="bg1"/>
                </a:solidFill>
              </a:rPr>
              <a:t>AICTE–</a:t>
            </a:r>
            <a:r>
              <a:rPr lang="en-IN" sz="1400" b="1" dirty="0" err="1">
                <a:solidFill>
                  <a:schemeClr val="bg1"/>
                </a:solidFill>
              </a:rPr>
              <a:t>BharatCares</a:t>
            </a:r>
            <a:r>
              <a:rPr lang="en-IN" sz="1400" b="1" dirty="0">
                <a:solidFill>
                  <a:schemeClr val="bg1"/>
                </a:solidFill>
              </a:rPr>
              <a:t>–IBM </a:t>
            </a:r>
            <a:r>
              <a:rPr lang="en-IN" sz="1400" b="1" dirty="0" err="1">
                <a:solidFill>
                  <a:schemeClr val="bg1"/>
                </a:solidFill>
              </a:rPr>
              <a:t>SkillsBuild</a:t>
            </a:r>
            <a:r>
              <a:rPr lang="en-IN" sz="1400" b="1" dirty="0">
                <a:solidFill>
                  <a:schemeClr val="bg1"/>
                </a:solidFill>
              </a:rPr>
              <a:t> Data Analytics with AI Internship</a:t>
            </a:r>
            <a:r>
              <a:rPr lang="en-IN" sz="1400" dirty="0">
                <a:solidFill>
                  <a:schemeClr val="bg1"/>
                </a:solidFill>
              </a:rPr>
              <a:t> provided valuable exposure to the fundamentals of data analytics, artificial intelligence, and machine learning. The internship helped me understand important stages of the data analytics process, including data preprocessing, exploratory analysis, predictive analytics, visualization, and AI-driven insights.</a:t>
            </a:r>
          </a:p>
          <a:p>
            <a:pPr>
              <a:lnSpc>
                <a:spcPct val="150000"/>
              </a:lnSpc>
            </a:pPr>
            <a:endParaRPr lang="en-IN" sz="1400" dirty="0">
              <a:solidFill>
                <a:schemeClr val="bg1"/>
              </a:solidFill>
            </a:endParaRPr>
          </a:p>
          <a:p>
            <a:pPr>
              <a:lnSpc>
                <a:spcPct val="150000"/>
              </a:lnSpc>
            </a:pPr>
            <a:r>
              <a:rPr lang="en-IN" sz="1400" dirty="0">
                <a:solidFill>
                  <a:schemeClr val="bg1"/>
                </a:solidFill>
              </a:rPr>
              <a:t>The experience helped me connect academic concepts with practical learning through masterclasses, guided learning, and project-based activities. It also strengthened my analytical thinking, problem-solving, and critical-thinking abilities.</a:t>
            </a:r>
          </a:p>
          <a:p>
            <a:pPr>
              <a:lnSpc>
                <a:spcPct val="150000"/>
              </a:lnSpc>
            </a:pPr>
            <a:r>
              <a:rPr lang="en-IN" sz="1400" dirty="0">
                <a:solidFill>
                  <a:schemeClr val="bg1"/>
                </a:solidFill>
              </a:rPr>
              <a:t>Overall, the internship has given me a stronger foundation in </a:t>
            </a:r>
            <a:r>
              <a:rPr lang="en-IN" sz="1400" b="1" dirty="0">
                <a:solidFill>
                  <a:schemeClr val="bg1"/>
                </a:solidFill>
              </a:rPr>
              <a:t>Data Analytics with AI</a:t>
            </a:r>
            <a:r>
              <a:rPr lang="en-IN" sz="1400" dirty="0">
                <a:solidFill>
                  <a:schemeClr val="bg1"/>
                </a:solidFill>
              </a:rPr>
              <a:t> and increased my confidence in applying data-driven concepts to real-world problems.</a:t>
            </a:r>
          </a:p>
          <a:p>
            <a:pPr>
              <a:lnSpc>
                <a:spcPct val="150000"/>
              </a:lnSpc>
            </a:pPr>
            <a:endParaRPr lang="en-US" sz="1400" dirty="0">
              <a:solidFill>
                <a:schemeClr val="bg1"/>
              </a:solidFill>
            </a:endParaRPr>
          </a:p>
        </p:txBody>
      </p:sp>
      <p:sp>
        <p:nvSpPr>
          <p:cNvPr id="7" name="Shape 5"/>
          <p:cNvSpPr/>
          <p:nvPr/>
        </p:nvSpPr>
        <p:spPr>
          <a:xfrm>
            <a:off x="700830" y="3733275"/>
            <a:ext cx="2011680" cy="0"/>
          </a:xfrm>
          <a:prstGeom prst="line">
            <a:avLst/>
          </a:prstGeom>
          <a:noFill/>
          <a:ln w="38100">
            <a:solidFill>
              <a:srgbClr val="4C7FFF"/>
            </a:solidFill>
            <a:prstDash val="solid"/>
          </a:ln>
        </p:spPr>
      </p:sp>
      <p:sp>
        <p:nvSpPr>
          <p:cNvPr id="8" name="Shape 6"/>
          <p:cNvSpPr/>
          <p:nvPr/>
        </p:nvSpPr>
        <p:spPr>
          <a:xfrm>
            <a:off x="5413248" y="3703320"/>
            <a:ext cx="868680" cy="868680"/>
          </a:xfrm>
          <a:prstGeom prst="roundRect">
            <a:avLst>
              <a:gd name="adj" fmla="val 10526"/>
            </a:avLst>
          </a:prstGeom>
          <a:solidFill>
            <a:srgbClr val="FFFFFF"/>
          </a:solidFill>
          <a:ln/>
          <a:effectLst>
            <a:outerShdw blurRad="76200" dist="25400" dir="5400000" algn="bl" rotWithShape="0">
              <a:srgbClr val="000000">
                <a:alpha val="25000"/>
              </a:srgbClr>
            </a:outerShdw>
          </a:effectLst>
        </p:spPr>
      </p:sp>
      <p:pic>
        <p:nvPicPr>
          <p:cNvPr id="9" name="Image 0" descr="/home/claude/pptx_work/icons/iilm_logo.png"/>
          <p:cNvPicPr>
            <a:picLocks noChangeAspect="1"/>
          </p:cNvPicPr>
          <p:nvPr/>
        </p:nvPicPr>
        <p:blipFill>
          <a:blip r:embed="rId3"/>
          <a:stretch>
            <a:fillRect/>
          </a:stretch>
        </p:blipFill>
        <p:spPr>
          <a:xfrm>
            <a:off x="5504688" y="3794760"/>
            <a:ext cx="685800" cy="685800"/>
          </a:xfrm>
          <a:prstGeom prst="rect">
            <a:avLst/>
          </a:prstGeom>
        </p:spPr>
      </p:pic>
      <p:sp>
        <p:nvSpPr>
          <p:cNvPr id="10" name="Text 7"/>
          <p:cNvSpPr/>
          <p:nvPr/>
        </p:nvSpPr>
        <p:spPr>
          <a:xfrm>
            <a:off x="640080" y="4754880"/>
            <a:ext cx="10881360" cy="73152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11" name="Text 8"/>
          <p:cNvSpPr/>
          <p:nvPr/>
        </p:nvSpPr>
        <p:spPr>
          <a:xfrm>
            <a:off x="640080" y="5532120"/>
            <a:ext cx="10881360" cy="365760"/>
          </a:xfrm>
          <a:prstGeom prst="rect">
            <a:avLst/>
          </a:prstGeom>
          <a:noFill/>
          <a:ln/>
        </p:spPr>
        <p:txBody>
          <a:bodyPr wrap="square" rtlCol="0" anchor="ctr"/>
          <a:lstStyle/>
          <a:p>
            <a:pPr marL="0" indent="0" algn="ctr">
              <a:buNone/>
            </a:pPr>
            <a:r>
              <a:rPr lang="en-US" sz="1400" b="1" dirty="0">
                <a:solidFill>
                  <a:srgbClr val="CADCFC"/>
                </a:solidFill>
                <a:latin typeface="Calibri" pitchFamily="34" charset="0"/>
                <a:ea typeface="Calibri" pitchFamily="34" charset="-122"/>
                <a:cs typeface="Calibri" pitchFamily="34" charset="-120"/>
              </a:rPr>
              <a:t>Presented by  Kaushlendra Kumar Dwivedi</a:t>
            </a:r>
            <a:endParaRPr lang="en-US" sz="1400" dirty="0"/>
          </a:p>
        </p:txBody>
      </p:sp>
      <p:sp>
        <p:nvSpPr>
          <p:cNvPr id="12" name="Text 9"/>
          <p:cNvSpPr/>
          <p:nvPr/>
        </p:nvSpPr>
        <p:spPr>
          <a:xfrm>
            <a:off x="640080" y="5897880"/>
            <a:ext cx="108813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B.Tech Computer Science &amp; Engineering  ·  IILM University</a:t>
            </a:r>
            <a:endParaRPr lang="en-US" sz="1200" dirty="0"/>
          </a:p>
        </p:txBody>
      </p:sp>
      <p:sp>
        <p:nvSpPr>
          <p:cNvPr id="13" name="Text 10"/>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44506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987</Words>
  <Application>Microsoft Office PowerPoint</Application>
  <PresentationFormat>Custom</PresentationFormat>
  <Paragraphs>212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Kaushlendra Dwivedi</cp:lastModifiedBy>
  <cp:revision>3</cp:revision>
  <dcterms:created xsi:type="dcterms:W3CDTF">2026-08-30T13:26:45Z</dcterms:created>
  <dcterms:modified xsi:type="dcterms:W3CDTF">2026-09-10T11:44:59Z</dcterms:modified>
</cp:coreProperties>
</file>